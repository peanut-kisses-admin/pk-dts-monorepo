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F5F4-999D-4C16-85CC-63E61E34C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06F20-3675-0B3F-8AE4-884A84B5A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8358D-4243-90F4-A7ED-83053332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C325E-7EBD-8416-5388-42627378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C736C-3238-E17A-1C08-9848E0B5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7601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0CE5-552A-6518-6AED-EF2DBC13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2BCBF-EFF9-4CAF-AE23-D9EDBDB78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D58F-A39B-C8C3-D15B-A3E9E37B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1A5B5-D740-E691-5D7C-D0CA4963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EC62-2816-840F-7333-5A751B8F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9159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A2A0-6573-F57C-A53F-BAA58A04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19208-D12B-CC3A-C236-1B4927D56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AD529-00D8-3261-4450-55BB19B7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2CDDC-11B8-A635-2606-6773D6E9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F38ED-4AFB-D50E-564B-E5AD4BEA5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76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190F-4596-630D-B96E-BD7AE7A64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7101-9A07-BC65-56C0-57660CD1C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03418-D319-96A6-FB82-CE1E22FCC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02E65-B820-CB8B-5AE1-F25A2DAE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E450B-F579-ADC5-3892-4D61E24D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A722F-C562-7328-77E9-33E549AC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618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9E0D1-8E72-2CD6-CC5E-011560C2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52545-DEC3-DE75-A291-BE887648B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C6B12-61C1-12A2-0439-DC9E65B02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E38F8-634E-61FF-D8EE-570DAFDD4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2BA880-3C04-3D45-2C22-70274D040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42EE6-0069-587A-926A-C1382A4B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368270-FB34-5388-3DE6-6BFED915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42DE26-3363-641E-0F69-44E26ABC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8636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228A-465F-4DED-451E-5E9CFC06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8B4FF2-D0A1-9ACF-CFB6-B366E15A7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2FE92-88CA-FCB8-16C9-5E30E427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B85DE-F213-206F-8C4F-BFAD71DC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919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6A010-32A7-AB8E-1E9F-0072D59C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2DFE6-9188-FAD3-6C1E-A9FACF4D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3023B-9589-EE8A-EF38-607CCCF6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949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C4A7-5A27-6B24-5C7A-3D2E4ACA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466B4-CEB6-023E-BCF8-B0C445D38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7D736-7341-541C-1A16-8CA6DAAB5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AB433-4589-90F0-7FCE-68F84D81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8CDAC-007D-4516-C8D8-D02392EA9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1DFEE-C9F6-F305-598D-0604FCDF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7145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798F-0F1C-941C-E3F1-618C317EE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BB7C3-B1D4-09FA-310A-E1932F9C3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436DB-EF33-0AF4-3ACA-038F4F7F6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4961C-CA39-F217-F434-BC08EC88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57BDA-F21A-89D9-E0D0-CC4BD8F8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7ACDE-E59E-A39D-4DF7-EB0F7811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95710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F968-81C8-CFB5-C383-73A50AAD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2C37B-BF19-A522-96C0-725FC2ADF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47121-7551-BF7A-947E-B093CEA3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C441C-EF5E-A827-A2F5-F6905ACF3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3110A-EB10-5775-A963-BE32CF8F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2263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7D567-EE14-0B42-E2AD-9876D1A71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A2EC5-DCAB-F591-89D3-2D43F5BC4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4EEDF-687D-80D5-4E3E-86BAAA22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48C7-74C4-C9F0-7A42-5AED148D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36810-98FF-C122-E6F9-7E9981E0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029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0AADC9-BC59-0F07-ACC4-8D2238732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BB09C-5251-EA7A-B9F4-D842F9910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2117A-11AF-D025-D0EC-D67AEA995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47EAC-0E17-4209-9AF7-6C16312A92A0}" type="datetimeFigureOut">
              <a:rPr lang="en-PH" smtClean="0"/>
              <a:t>8/14/2026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20ADE-AC5B-B590-27DD-DA7B754207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99C67-8DA8-68B2-DA3F-7AC6E13AD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CDB3C-FEDB-4066-83CE-4F119AD4868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375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2AA8AC-6A74-F0FE-5AE8-4CAA2F89FB8A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SYSTEM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89104-C36D-B601-0A31-DDCD9C829A32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79346-59AB-0241-9B2B-9A5E6F80702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5C8CC6-7EBF-DD38-565B-34BA6D47E2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7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0B348-8451-2C43-6112-A9E64099C634}"/>
              </a:ext>
            </a:extLst>
          </p:cNvPr>
          <p:cNvSpPr/>
          <p:nvPr/>
        </p:nvSpPr>
        <p:spPr>
          <a:xfrm>
            <a:off x="0" y="0"/>
            <a:ext cx="7175500" cy="6858000"/>
          </a:xfrm>
          <a:prstGeom prst="rect">
            <a:avLst/>
          </a:prstGeom>
          <a:solidFill>
            <a:srgbClr val="171717">
              <a:alpha val="9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E18E11-0A92-8130-9CFD-92A67A18E02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340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5F17AE-7A50-494F-9C22-D6BE98F68260}"/>
              </a:ext>
            </a:extLst>
          </p:cNvPr>
          <p:cNvSpPr txBox="1"/>
          <p:nvPr/>
        </p:nvSpPr>
        <p:spPr>
          <a:xfrm>
            <a:off x="1803400" y="635000"/>
            <a:ext cx="3810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FFFFFF"/>
                </a:solidFill>
                <a:latin typeface="Aptos" panose="020B0004020202020204" pitchFamily="34" charset="0"/>
              </a:rPr>
              <a:t>PEANUT KISSES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6088DA-BB5E-3438-7975-019FF9571C8B}"/>
              </a:ext>
            </a:extLst>
          </p:cNvPr>
          <p:cNvSpPr txBox="1"/>
          <p:nvPr/>
        </p:nvSpPr>
        <p:spPr>
          <a:xfrm>
            <a:off x="685800" y="1968500"/>
            <a:ext cx="6096000" cy="10464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3400" b="1">
                <a:solidFill>
                  <a:srgbClr val="FFFFFF"/>
                </a:solidFill>
                <a:latin typeface="Aptos" panose="020B0004020202020204" pitchFamily="34" charset="0"/>
              </a:rPr>
              <a:t>Document Tracking &amp;</a:t>
            </a:r>
          </a:p>
          <a:p>
            <a:r>
              <a:rPr lang="en-PH" sz="3400" b="1">
                <a:solidFill>
                  <a:srgbClr val="FFFFFF"/>
                </a:solidFill>
                <a:latin typeface="Aptos" panose="020B0004020202020204" pitchFamily="34" charset="0"/>
              </a:rPr>
              <a:t>Management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CC5B9-A37C-3FD2-F1CB-FA96F667AFEB}"/>
              </a:ext>
            </a:extLst>
          </p:cNvPr>
          <p:cNvSpPr txBox="1"/>
          <p:nvPr/>
        </p:nvSpPr>
        <p:spPr>
          <a:xfrm>
            <a:off x="685800" y="3556000"/>
            <a:ext cx="5715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D1D3D6"/>
                </a:solidFill>
                <a:latin typeface="Aptos" panose="020B0004020202020204" pitchFamily="34" charset="0"/>
              </a:rPr>
              <a:t>A complete guide to secure document creation, storage, access, approval, retrieval, disposal, and accountability.</a:t>
            </a:r>
            <a:endParaRPr lang="en-PH" sz="1500">
              <a:solidFill>
                <a:srgbClr val="D1D3D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279A1D-0539-9376-4F8C-9113AEBEEF54}"/>
              </a:ext>
            </a:extLst>
          </p:cNvPr>
          <p:cNvSpPr/>
          <p:nvPr/>
        </p:nvSpPr>
        <p:spPr>
          <a:xfrm>
            <a:off x="685800" y="4876800"/>
            <a:ext cx="1676400" cy="31750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DEC7E-54C1-FA2A-CE9A-08C4B786B9B7}"/>
              </a:ext>
            </a:extLst>
          </p:cNvPr>
          <p:cNvSpPr txBox="1"/>
          <p:nvPr/>
        </p:nvSpPr>
        <p:spPr>
          <a:xfrm>
            <a:off x="762000" y="49530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FFFFFF"/>
                </a:solidFill>
                <a:latin typeface="Aptos" panose="020B0004020202020204" pitchFamily="34" charset="0"/>
              </a:rPr>
              <a:t>SYSTEM OVERVIEW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964599-1F33-A95A-C593-8B4B9F8D96F2}"/>
              </a:ext>
            </a:extLst>
          </p:cNvPr>
          <p:cNvSpPr/>
          <p:nvPr/>
        </p:nvSpPr>
        <p:spPr>
          <a:xfrm>
            <a:off x="2489200" y="4876800"/>
            <a:ext cx="1574800" cy="3175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C8A91-AE0B-36AB-79E9-C5F964A41D0C}"/>
              </a:ext>
            </a:extLst>
          </p:cNvPr>
          <p:cNvSpPr txBox="1"/>
          <p:nvPr/>
        </p:nvSpPr>
        <p:spPr>
          <a:xfrm>
            <a:off x="2565400" y="4953000"/>
            <a:ext cx="14224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FFFFFF"/>
                </a:solidFill>
                <a:latin typeface="Aptos" panose="020B0004020202020204" pitchFamily="34" charset="0"/>
              </a:rPr>
              <a:t>PROCESS GUIDE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5D9C1F-D984-AF7E-0724-317A1F838EA5}"/>
              </a:ext>
            </a:extLst>
          </p:cNvPr>
          <p:cNvSpPr/>
          <p:nvPr/>
        </p:nvSpPr>
        <p:spPr>
          <a:xfrm>
            <a:off x="4191000" y="4876800"/>
            <a:ext cx="1498600" cy="31750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6B61B8-01F6-AC21-E00A-858590A5410B}"/>
              </a:ext>
            </a:extLst>
          </p:cNvPr>
          <p:cNvSpPr txBox="1"/>
          <p:nvPr/>
        </p:nvSpPr>
        <p:spPr>
          <a:xfrm>
            <a:off x="4267200" y="4953000"/>
            <a:ext cx="1346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FFFFFF"/>
                </a:solidFill>
                <a:latin typeface="Aptos" panose="020B0004020202020204" pitchFamily="34" charset="0"/>
              </a:rPr>
              <a:t>USER TUTORIAL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E70F33-A9A5-9060-B86E-22CA133202DC}"/>
              </a:ext>
            </a:extLst>
          </p:cNvPr>
          <p:cNvSpPr txBox="1"/>
          <p:nvPr/>
        </p:nvSpPr>
        <p:spPr>
          <a:xfrm>
            <a:off x="685800" y="5994400"/>
            <a:ext cx="381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>
                <a:solidFill>
                  <a:srgbClr val="D1D3D6"/>
                </a:solidFill>
                <a:latin typeface="Aptos" panose="020B0004020202020204" pitchFamily="34" charset="0"/>
              </a:rPr>
              <a:t>Presentation deck | 2026</a:t>
            </a:r>
          </a:p>
        </p:txBody>
      </p:sp>
    </p:spTree>
    <p:extLst>
      <p:ext uri="{BB962C8B-B14F-4D97-AF65-F5344CB8AC3E}">
        <p14:creationId xmlns:p14="http://schemas.microsoft.com/office/powerpoint/2010/main" val="32157785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  <p:bldP spid="7" grpId="0" animBg="1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052307-E067-7457-C5A9-0CC6F0982A12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0CA52-5D27-FA50-FC9B-094EE5E93196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E8EB9-F326-4D3D-7365-B74E4C1DAFDD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EXECUTIVE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B90E6-64E1-4B32-D2AD-81718804E1F4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One controlled workspace for every document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34BCB-3EDF-118A-2097-788D88CD24C0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PK DMS connects records, files, physical locations, people, decisions, and evidence.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B457F-8FFD-5D9A-7F5E-F2368DE3E14C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E10C0C-BDD7-8D77-0506-01E8121B6BF9}"/>
              </a:ext>
            </a:extLst>
          </p:cNvPr>
          <p:cNvSpPr/>
          <p:nvPr/>
        </p:nvSpPr>
        <p:spPr>
          <a:xfrm>
            <a:off x="685800" y="1968500"/>
            <a:ext cx="3276600" cy="323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7CF542-7C3F-ABCF-FBDD-B59D69AFEC56}"/>
              </a:ext>
            </a:extLst>
          </p:cNvPr>
          <p:cNvSpPr/>
          <p:nvPr/>
        </p:nvSpPr>
        <p:spPr>
          <a:xfrm>
            <a:off x="685800" y="1968500"/>
            <a:ext cx="63500" cy="32385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6A999-4851-3C82-6789-19248F782348}"/>
              </a:ext>
            </a:extLst>
          </p:cNvPr>
          <p:cNvSpPr txBox="1"/>
          <p:nvPr/>
        </p:nvSpPr>
        <p:spPr>
          <a:xfrm>
            <a:off x="914400" y="2159000"/>
            <a:ext cx="2832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CONTROL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C12F1E-7181-DBD4-86E5-3E12AA33966D}"/>
              </a:ext>
            </a:extLst>
          </p:cNvPr>
          <p:cNvSpPr txBox="1"/>
          <p:nvPr/>
        </p:nvSpPr>
        <p:spPr>
          <a:xfrm>
            <a:off x="914400" y="2400300"/>
            <a:ext cx="28321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Central register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536A3-8C21-B818-17BF-45CE856535CC}"/>
              </a:ext>
            </a:extLst>
          </p:cNvPr>
          <p:cNvSpPr txBox="1"/>
          <p:nvPr/>
        </p:nvSpPr>
        <p:spPr>
          <a:xfrm>
            <a:off x="914400" y="2806700"/>
            <a:ext cx="28321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One authoritative catalog for both physical and digital documents. Search by title, number, owner, file, asset, area, or location.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727C44-95CE-CCA3-0604-BF98B6D9FA72}"/>
              </a:ext>
            </a:extLst>
          </p:cNvPr>
          <p:cNvSpPr/>
          <p:nvPr/>
        </p:nvSpPr>
        <p:spPr>
          <a:xfrm>
            <a:off x="4445000" y="1968500"/>
            <a:ext cx="3276600" cy="323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427817-2B29-F832-0DBE-1F90ED8844A1}"/>
              </a:ext>
            </a:extLst>
          </p:cNvPr>
          <p:cNvSpPr/>
          <p:nvPr/>
        </p:nvSpPr>
        <p:spPr>
          <a:xfrm>
            <a:off x="4445000" y="1968500"/>
            <a:ext cx="63500" cy="32385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503753-0284-1F5E-E5B8-399AC29E5F6F}"/>
              </a:ext>
            </a:extLst>
          </p:cNvPr>
          <p:cNvSpPr txBox="1"/>
          <p:nvPr/>
        </p:nvSpPr>
        <p:spPr>
          <a:xfrm>
            <a:off x="4673600" y="2159000"/>
            <a:ext cx="2832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71717"/>
                </a:solidFill>
                <a:latin typeface="Aptos" panose="020B0004020202020204" pitchFamily="34" charset="0"/>
              </a:rPr>
              <a:t>SECURITY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728151-BEC1-0AFB-F6A3-452D67A7631C}"/>
              </a:ext>
            </a:extLst>
          </p:cNvPr>
          <p:cNvSpPr txBox="1"/>
          <p:nvPr/>
        </p:nvSpPr>
        <p:spPr>
          <a:xfrm>
            <a:off x="4673600" y="2400300"/>
            <a:ext cx="28321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Governed access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5B5D49-90B2-CF71-DE11-AE8069167DD7}"/>
              </a:ext>
            </a:extLst>
          </p:cNvPr>
          <p:cNvSpPr txBox="1"/>
          <p:nvPr/>
        </p:nvSpPr>
        <p:spPr>
          <a:xfrm>
            <a:off x="4673600" y="2806700"/>
            <a:ext cx="28321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Users see only what their role and document assignments allow. Administrators manage roles, permissions, and account status.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6ED5DA5-C81F-C0B3-818F-237A207A1545}"/>
              </a:ext>
            </a:extLst>
          </p:cNvPr>
          <p:cNvSpPr/>
          <p:nvPr/>
        </p:nvSpPr>
        <p:spPr>
          <a:xfrm>
            <a:off x="8204200" y="1968500"/>
            <a:ext cx="3276600" cy="323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FA33EA-5A60-8733-6BC7-50A165699ABD}"/>
              </a:ext>
            </a:extLst>
          </p:cNvPr>
          <p:cNvSpPr/>
          <p:nvPr/>
        </p:nvSpPr>
        <p:spPr>
          <a:xfrm>
            <a:off x="8204200" y="1968500"/>
            <a:ext cx="63500" cy="3238500"/>
          </a:xfrm>
          <a:prstGeom prst="rect">
            <a:avLst/>
          </a:prstGeom>
          <a:solidFill>
            <a:srgbClr val="478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D49E51-D6D2-37E0-46A6-77D72F832BB0}"/>
              </a:ext>
            </a:extLst>
          </p:cNvPr>
          <p:cNvSpPr txBox="1"/>
          <p:nvPr/>
        </p:nvSpPr>
        <p:spPr>
          <a:xfrm>
            <a:off x="8432800" y="2159000"/>
            <a:ext cx="2832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478034"/>
                </a:solidFill>
                <a:latin typeface="Aptos" panose="020B0004020202020204" pitchFamily="34" charset="0"/>
              </a:rPr>
              <a:t>TRACEABILITY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CB9193-4B3D-0C72-9347-8E181454C1D7}"/>
              </a:ext>
            </a:extLst>
          </p:cNvPr>
          <p:cNvSpPr txBox="1"/>
          <p:nvPr/>
        </p:nvSpPr>
        <p:spPr>
          <a:xfrm>
            <a:off x="8432800" y="2400300"/>
            <a:ext cx="28321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Traceable lifecycle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FC49EA-B1D6-7F72-0470-2E70475CA963}"/>
              </a:ext>
            </a:extLst>
          </p:cNvPr>
          <p:cNvSpPr txBox="1"/>
          <p:nvPr/>
        </p:nvSpPr>
        <p:spPr>
          <a:xfrm>
            <a:off x="8432800" y="2806700"/>
            <a:ext cx="28321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Requests, approvals, revisions, attachments, disposal, restoration, notifications, and authenticated actions are retained as an accountable trail.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AC73BC-E44F-6FBD-A175-A1C609CD199E}"/>
              </a:ext>
            </a:extLst>
          </p:cNvPr>
          <p:cNvSpPr txBox="1"/>
          <p:nvPr/>
        </p:nvSpPr>
        <p:spPr>
          <a:xfrm>
            <a:off x="685800" y="55626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Presentation message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80C391-BD24-E43D-8166-6B5F44CA3E09}"/>
              </a:ext>
            </a:extLst>
          </p:cNvPr>
          <p:cNvSpPr txBox="1"/>
          <p:nvPr/>
        </p:nvSpPr>
        <p:spPr>
          <a:xfrm>
            <a:off x="2413000" y="5537200"/>
            <a:ext cx="9067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The system does not only store files - it controls the complete life of a document.</a:t>
            </a:r>
            <a:endParaRPr lang="en-PH" sz="14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9006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A446DC-0EF0-E606-6E0D-32A8E9E53AC3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2FBC2-9B4B-E277-A074-F5DA94FF78E5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451146-3E2E-03D9-FB9D-4A0BBB112590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WHY THE SYSTEM EXISTS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816F9-1727-E3E0-95A5-99C229948970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From scattered records to controlled information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D6035-AE98-B99F-7906-60514A72BF91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The presentation can frame the project as a direct answer to common document-management risks.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B6137B-709D-13FE-552E-6846091E5F09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F87A0-E2A7-B312-FEC4-0BF1524A6ED5}"/>
              </a:ext>
            </a:extLst>
          </p:cNvPr>
          <p:cNvSpPr txBox="1"/>
          <p:nvPr/>
        </p:nvSpPr>
        <p:spPr>
          <a:xfrm>
            <a:off x="825500" y="1968500"/>
            <a:ext cx="393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80726B"/>
                </a:solidFill>
                <a:latin typeface="Aptos" panose="020B0004020202020204" pitchFamily="34" charset="0"/>
              </a:rPr>
              <a:t>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90176-0BEB-437B-EE78-5A50355F5B61}"/>
              </a:ext>
            </a:extLst>
          </p:cNvPr>
          <p:cNvSpPr txBox="1"/>
          <p:nvPr/>
        </p:nvSpPr>
        <p:spPr>
          <a:xfrm>
            <a:off x="6921500" y="1968500"/>
            <a:ext cx="393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991B1B"/>
                </a:solidFill>
                <a:latin typeface="Aptos" panose="020B0004020202020204" pitchFamily="34" charset="0"/>
              </a:rPr>
              <a:t>WITH PK DMS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7A1CC3-7A37-5C0D-D93E-851B5F9B9DF0}"/>
              </a:ext>
            </a:extLst>
          </p:cNvPr>
          <p:cNvSpPr/>
          <p:nvPr/>
        </p:nvSpPr>
        <p:spPr>
          <a:xfrm>
            <a:off x="685800" y="2349500"/>
            <a:ext cx="4508500" cy="508000"/>
          </a:xfrm>
          <a:prstGeom prst="roundRect">
            <a:avLst/>
          </a:prstGeom>
          <a:solidFill>
            <a:srgbClr val="F6F4F3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449DE-9EAF-0B97-6526-3931A9A87352}"/>
              </a:ext>
            </a:extLst>
          </p:cNvPr>
          <p:cNvSpPr txBox="1"/>
          <p:nvPr/>
        </p:nvSpPr>
        <p:spPr>
          <a:xfrm>
            <a:off x="889000" y="2463800"/>
            <a:ext cx="25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400" b="1">
                <a:solidFill>
                  <a:srgbClr val="80726B"/>
                </a:solidFill>
                <a:latin typeface="Aptos" panose="020B0004020202020204" pitchFamily="34" charset="0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A6030-DE33-1FBA-79B5-60BBFD12B9AD}"/>
              </a:ext>
            </a:extLst>
          </p:cNvPr>
          <p:cNvSpPr txBox="1"/>
          <p:nvPr/>
        </p:nvSpPr>
        <p:spPr>
          <a:xfrm>
            <a:off x="1295400" y="2501900"/>
            <a:ext cx="36322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Files stored in unrelated folders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BC362E-483A-C571-F197-D9E72A28794B}"/>
              </a:ext>
            </a:extLst>
          </p:cNvPr>
          <p:cNvSpPr/>
          <p:nvPr/>
        </p:nvSpPr>
        <p:spPr>
          <a:xfrm>
            <a:off x="6731000" y="2349500"/>
            <a:ext cx="4749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52F994-99BD-C0D9-9CAB-A5E8FE484352}"/>
              </a:ext>
            </a:extLst>
          </p:cNvPr>
          <p:cNvSpPr txBox="1"/>
          <p:nvPr/>
        </p:nvSpPr>
        <p:spPr>
          <a:xfrm>
            <a:off x="6883400" y="2463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478034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60C79C-DAF9-78B5-3A81-F792BF94DF41}"/>
              </a:ext>
            </a:extLst>
          </p:cNvPr>
          <p:cNvSpPr txBox="1"/>
          <p:nvPr/>
        </p:nvSpPr>
        <p:spPr>
          <a:xfrm>
            <a:off x="7340600" y="2501900"/>
            <a:ext cx="387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171717"/>
                </a:solidFill>
                <a:latin typeface="Aptos" panose="020B0004020202020204" pitchFamily="34" charset="0"/>
              </a:rPr>
              <a:t>One searchable document register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7FB4851-0631-012C-4396-631AED7053E9}"/>
              </a:ext>
            </a:extLst>
          </p:cNvPr>
          <p:cNvSpPr/>
          <p:nvPr/>
        </p:nvSpPr>
        <p:spPr>
          <a:xfrm>
            <a:off x="685800" y="3022600"/>
            <a:ext cx="4508500" cy="508000"/>
          </a:xfrm>
          <a:prstGeom prst="roundRect">
            <a:avLst/>
          </a:prstGeom>
          <a:solidFill>
            <a:srgbClr val="F6F4F3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38B81A-7FA4-424C-1F5C-AEEF859919C6}"/>
              </a:ext>
            </a:extLst>
          </p:cNvPr>
          <p:cNvSpPr txBox="1"/>
          <p:nvPr/>
        </p:nvSpPr>
        <p:spPr>
          <a:xfrm>
            <a:off x="889000" y="3136900"/>
            <a:ext cx="25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400" b="1">
                <a:solidFill>
                  <a:srgbClr val="80726B"/>
                </a:solidFill>
                <a:latin typeface="Aptos" panose="020B0004020202020204" pitchFamily="34" charset="0"/>
              </a:rPr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4D2FB9-86AD-A088-E5C1-2D04D714A30A}"/>
              </a:ext>
            </a:extLst>
          </p:cNvPr>
          <p:cNvSpPr txBox="1"/>
          <p:nvPr/>
        </p:nvSpPr>
        <p:spPr>
          <a:xfrm>
            <a:off x="1295400" y="3175000"/>
            <a:ext cx="36322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Paper records difficult to locate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DED4705-175C-D9AB-045B-249AA956400D}"/>
              </a:ext>
            </a:extLst>
          </p:cNvPr>
          <p:cNvSpPr/>
          <p:nvPr/>
        </p:nvSpPr>
        <p:spPr>
          <a:xfrm>
            <a:off x="6731000" y="3022600"/>
            <a:ext cx="4749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0C5F85-F660-33DB-B063-3060C122FF35}"/>
              </a:ext>
            </a:extLst>
          </p:cNvPr>
          <p:cNvSpPr txBox="1"/>
          <p:nvPr/>
        </p:nvSpPr>
        <p:spPr>
          <a:xfrm>
            <a:off x="6883400" y="31369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478034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308449-1953-C4BC-B692-31C4D196FB51}"/>
              </a:ext>
            </a:extLst>
          </p:cNvPr>
          <p:cNvSpPr txBox="1"/>
          <p:nvPr/>
        </p:nvSpPr>
        <p:spPr>
          <a:xfrm>
            <a:off x="7340600" y="3175000"/>
            <a:ext cx="387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171717"/>
                </a:solidFill>
                <a:latin typeface="Aptos" panose="020B0004020202020204" pitchFamily="34" charset="0"/>
              </a:rPr>
              <a:t>Mapped physical storage route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5358961-4315-C9AF-F0CD-1D7F109C4D37}"/>
              </a:ext>
            </a:extLst>
          </p:cNvPr>
          <p:cNvSpPr/>
          <p:nvPr/>
        </p:nvSpPr>
        <p:spPr>
          <a:xfrm>
            <a:off x="685800" y="3695700"/>
            <a:ext cx="4508500" cy="508000"/>
          </a:xfrm>
          <a:prstGeom prst="roundRect">
            <a:avLst/>
          </a:prstGeom>
          <a:solidFill>
            <a:srgbClr val="F6F4F3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0AD0B0-2ACE-9564-018C-CD22D8DE7475}"/>
              </a:ext>
            </a:extLst>
          </p:cNvPr>
          <p:cNvSpPr txBox="1"/>
          <p:nvPr/>
        </p:nvSpPr>
        <p:spPr>
          <a:xfrm>
            <a:off x="889000" y="3810000"/>
            <a:ext cx="25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400" b="1">
                <a:solidFill>
                  <a:srgbClr val="80726B"/>
                </a:solidFill>
                <a:latin typeface="Aptos" panose="020B0004020202020204" pitchFamily="34" charset="0"/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348611-62AA-050D-4A06-DE128A787325}"/>
              </a:ext>
            </a:extLst>
          </p:cNvPr>
          <p:cNvSpPr txBox="1"/>
          <p:nvPr/>
        </p:nvSpPr>
        <p:spPr>
          <a:xfrm>
            <a:off x="1295400" y="3848100"/>
            <a:ext cx="36322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>
                <a:solidFill>
                  <a:srgbClr val="80726B"/>
                </a:solidFill>
                <a:latin typeface="Aptos" panose="020B0004020202020204" pitchFamily="34" charset="0"/>
              </a:rPr>
              <a:t>Unclear ownership and access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E4BB73F-711B-1264-04D7-0D0735970545}"/>
              </a:ext>
            </a:extLst>
          </p:cNvPr>
          <p:cNvSpPr/>
          <p:nvPr/>
        </p:nvSpPr>
        <p:spPr>
          <a:xfrm>
            <a:off x="6731000" y="3695700"/>
            <a:ext cx="4749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9EA6D8-43E7-4D13-FF77-256B842186F5}"/>
              </a:ext>
            </a:extLst>
          </p:cNvPr>
          <p:cNvSpPr txBox="1"/>
          <p:nvPr/>
        </p:nvSpPr>
        <p:spPr>
          <a:xfrm>
            <a:off x="6883400" y="38100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478034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8979CD-10C4-3921-D731-65807B8FC434}"/>
              </a:ext>
            </a:extLst>
          </p:cNvPr>
          <p:cNvSpPr txBox="1"/>
          <p:nvPr/>
        </p:nvSpPr>
        <p:spPr>
          <a:xfrm>
            <a:off x="7340600" y="3848100"/>
            <a:ext cx="387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171717"/>
                </a:solidFill>
                <a:latin typeface="Aptos" panose="020B0004020202020204" pitchFamily="34" charset="0"/>
              </a:rPr>
              <a:t>Role plus assignment-based access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FA508BD-D91D-143D-854A-C2A30DE95162}"/>
              </a:ext>
            </a:extLst>
          </p:cNvPr>
          <p:cNvSpPr/>
          <p:nvPr/>
        </p:nvSpPr>
        <p:spPr>
          <a:xfrm>
            <a:off x="685800" y="4368800"/>
            <a:ext cx="4508500" cy="508000"/>
          </a:xfrm>
          <a:prstGeom prst="roundRect">
            <a:avLst/>
          </a:prstGeom>
          <a:solidFill>
            <a:srgbClr val="F6F4F3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2EA9F0-69B3-E919-F1D1-70DEDC6900EA}"/>
              </a:ext>
            </a:extLst>
          </p:cNvPr>
          <p:cNvSpPr txBox="1"/>
          <p:nvPr/>
        </p:nvSpPr>
        <p:spPr>
          <a:xfrm>
            <a:off x="889000" y="4483100"/>
            <a:ext cx="25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400" b="1">
                <a:solidFill>
                  <a:srgbClr val="80726B"/>
                </a:solidFill>
                <a:latin typeface="Aptos" panose="020B0004020202020204" pitchFamily="34" charset="0"/>
              </a:rPr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D3BA11-DE5C-1CD2-9D13-4BFDC29B710F}"/>
              </a:ext>
            </a:extLst>
          </p:cNvPr>
          <p:cNvSpPr txBox="1"/>
          <p:nvPr/>
        </p:nvSpPr>
        <p:spPr>
          <a:xfrm>
            <a:off x="1295400" y="4521200"/>
            <a:ext cx="36322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>
                <a:solidFill>
                  <a:srgbClr val="80726B"/>
                </a:solidFill>
                <a:latin typeface="Aptos" panose="020B0004020202020204" pitchFamily="34" charset="0"/>
              </a:rPr>
              <a:t>No consistent approval history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4530D39-BE98-B61A-F0BF-87BBEE37A2EE}"/>
              </a:ext>
            </a:extLst>
          </p:cNvPr>
          <p:cNvSpPr/>
          <p:nvPr/>
        </p:nvSpPr>
        <p:spPr>
          <a:xfrm>
            <a:off x="6731000" y="4368800"/>
            <a:ext cx="4749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BE77BF-83D5-7871-4B99-2D60F70DBADD}"/>
              </a:ext>
            </a:extLst>
          </p:cNvPr>
          <p:cNvSpPr txBox="1"/>
          <p:nvPr/>
        </p:nvSpPr>
        <p:spPr>
          <a:xfrm>
            <a:off x="6883400" y="44831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478034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F9E76D-0717-F206-BA55-98B6B170AF76}"/>
              </a:ext>
            </a:extLst>
          </p:cNvPr>
          <p:cNvSpPr txBox="1"/>
          <p:nvPr/>
        </p:nvSpPr>
        <p:spPr>
          <a:xfrm>
            <a:off x="7340600" y="4521200"/>
            <a:ext cx="387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71717"/>
                </a:solidFill>
                <a:latin typeface="Aptos" panose="020B0004020202020204" pitchFamily="34" charset="0"/>
              </a:rPr>
              <a:t>Visible request and review workflow</a:t>
            </a:r>
            <a:endParaRPr lang="en-PH" sz="11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D11A269-63F5-6E74-348A-0CBC3286C758}"/>
              </a:ext>
            </a:extLst>
          </p:cNvPr>
          <p:cNvSpPr/>
          <p:nvPr/>
        </p:nvSpPr>
        <p:spPr>
          <a:xfrm>
            <a:off x="685800" y="5041900"/>
            <a:ext cx="4508500" cy="508000"/>
          </a:xfrm>
          <a:prstGeom prst="roundRect">
            <a:avLst/>
          </a:prstGeom>
          <a:solidFill>
            <a:srgbClr val="F6F4F3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608E42-4B8C-4560-1EC2-1B9E8AF3C17C}"/>
              </a:ext>
            </a:extLst>
          </p:cNvPr>
          <p:cNvSpPr txBox="1"/>
          <p:nvPr/>
        </p:nvSpPr>
        <p:spPr>
          <a:xfrm>
            <a:off x="889000" y="5156200"/>
            <a:ext cx="25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400" b="1">
                <a:solidFill>
                  <a:srgbClr val="80726B"/>
                </a:solidFill>
                <a:latin typeface="Aptos" panose="020B0004020202020204" pitchFamily="34" charset="0"/>
              </a:rPr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76391A-66C9-F059-B898-31D7BAEBE1C7}"/>
              </a:ext>
            </a:extLst>
          </p:cNvPr>
          <p:cNvSpPr txBox="1"/>
          <p:nvPr/>
        </p:nvSpPr>
        <p:spPr>
          <a:xfrm>
            <a:off x="1295400" y="5194300"/>
            <a:ext cx="36322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Disposal decisions hard to prove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AF3356A-A69F-C84A-C5A3-A5546E92FA8E}"/>
              </a:ext>
            </a:extLst>
          </p:cNvPr>
          <p:cNvSpPr/>
          <p:nvPr/>
        </p:nvSpPr>
        <p:spPr>
          <a:xfrm>
            <a:off x="6731000" y="5041900"/>
            <a:ext cx="47498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379FE6-0F3E-AFE1-52E4-AAC810B995B4}"/>
              </a:ext>
            </a:extLst>
          </p:cNvPr>
          <p:cNvSpPr txBox="1"/>
          <p:nvPr/>
        </p:nvSpPr>
        <p:spPr>
          <a:xfrm>
            <a:off x="6883400" y="51562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478034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7CAC99-F545-EF19-B6C4-2DB464BF173F}"/>
              </a:ext>
            </a:extLst>
          </p:cNvPr>
          <p:cNvSpPr txBox="1"/>
          <p:nvPr/>
        </p:nvSpPr>
        <p:spPr>
          <a:xfrm>
            <a:off x="7340600" y="5194300"/>
            <a:ext cx="387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171717"/>
                </a:solidFill>
                <a:latin typeface="Aptos" panose="020B0004020202020204" pitchFamily="34" charset="0"/>
              </a:rPr>
              <a:t>Audited disposal and restoration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2510EED0-E21C-027C-DAA0-EE8224C1D1E7}"/>
              </a:ext>
            </a:extLst>
          </p:cNvPr>
          <p:cNvSpPr/>
          <p:nvPr/>
        </p:nvSpPr>
        <p:spPr>
          <a:xfrm>
            <a:off x="5651500" y="3429000"/>
            <a:ext cx="533400" cy="533400"/>
          </a:xfrm>
          <a:prstGeom prst="rightArrow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135543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7999E5-4D6E-A653-11BD-1425E2B3051E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1EC22-C59F-D679-7D6E-A5CE4A3A28FC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915C1-23D6-5F35-E107-91626842DA40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THE DOCUMENT JOURNEY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00B4F-A08B-DF82-1D55-E54555E2DEB8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A simple process from receipt to final action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F1FC5-7940-AFCA-2D88-50258C464EE4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Every step has a clear owner, status, and history.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FA3976-DEB6-02E3-0F29-DA9B53E1B98B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EA1516-E18D-88B6-9FA9-CE518985E09E}"/>
              </a:ext>
            </a:extLst>
          </p:cNvPr>
          <p:cNvSpPr/>
          <p:nvPr/>
        </p:nvSpPr>
        <p:spPr>
          <a:xfrm>
            <a:off x="444500" y="22225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C5AA3A-23E8-1D72-BEB6-E19F6E6151E0}"/>
              </a:ext>
            </a:extLst>
          </p:cNvPr>
          <p:cNvSpPr/>
          <p:nvPr/>
        </p:nvSpPr>
        <p:spPr>
          <a:xfrm>
            <a:off x="622300" y="24003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13EF8B-1BA2-40D1-7F9A-D51CCEC9CA76}"/>
              </a:ext>
            </a:extLst>
          </p:cNvPr>
          <p:cNvSpPr txBox="1"/>
          <p:nvPr/>
        </p:nvSpPr>
        <p:spPr>
          <a:xfrm>
            <a:off x="622300" y="2463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7C0119-C440-28BE-55A4-7E7453B92C8E}"/>
              </a:ext>
            </a:extLst>
          </p:cNvPr>
          <p:cNvSpPr txBox="1"/>
          <p:nvPr/>
        </p:nvSpPr>
        <p:spPr>
          <a:xfrm>
            <a:off x="1104900" y="24130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Receive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89C111-3B4E-2B72-E8EC-4838166DAC06}"/>
              </a:ext>
            </a:extLst>
          </p:cNvPr>
          <p:cNvSpPr txBox="1"/>
          <p:nvPr/>
        </p:nvSpPr>
        <p:spPr>
          <a:xfrm>
            <a:off x="622300" y="28829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>
                <a:solidFill>
                  <a:srgbClr val="80726B"/>
                </a:solidFill>
                <a:latin typeface="Aptos" panose="020B0004020202020204" pitchFamily="34" charset="0"/>
              </a:rPr>
              <a:t>A document arrives as paper or a digital file.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9C09BB-4EAD-9F12-DF03-D110B4B52F0D}"/>
              </a:ext>
            </a:extLst>
          </p:cNvPr>
          <p:cNvSpPr/>
          <p:nvPr/>
        </p:nvSpPr>
        <p:spPr>
          <a:xfrm>
            <a:off x="2794000" y="22225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A94C34-FE3D-9E79-490C-187E50FF3335}"/>
              </a:ext>
            </a:extLst>
          </p:cNvPr>
          <p:cNvSpPr/>
          <p:nvPr/>
        </p:nvSpPr>
        <p:spPr>
          <a:xfrm>
            <a:off x="2971800" y="24003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489FE-3BDF-65C1-D5EC-34DDD6F9AF08}"/>
              </a:ext>
            </a:extLst>
          </p:cNvPr>
          <p:cNvSpPr txBox="1"/>
          <p:nvPr/>
        </p:nvSpPr>
        <p:spPr>
          <a:xfrm>
            <a:off x="2971800" y="2463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171D4-5FD7-37CC-2C22-26533A45FD95}"/>
              </a:ext>
            </a:extLst>
          </p:cNvPr>
          <p:cNvSpPr txBox="1"/>
          <p:nvPr/>
        </p:nvSpPr>
        <p:spPr>
          <a:xfrm>
            <a:off x="3454400" y="24130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Register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BE5E24-0330-B876-2251-964711FD1F11}"/>
              </a:ext>
            </a:extLst>
          </p:cNvPr>
          <p:cNvSpPr txBox="1"/>
          <p:nvPr/>
        </p:nvSpPr>
        <p:spPr>
          <a:xfrm>
            <a:off x="2971800" y="28829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Staff records its title, number, type, and owner.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CC61E4B-C4F5-A443-BBF4-D342671BFF6D}"/>
              </a:ext>
            </a:extLst>
          </p:cNvPr>
          <p:cNvSpPr/>
          <p:nvPr/>
        </p:nvSpPr>
        <p:spPr>
          <a:xfrm>
            <a:off x="5143500" y="22225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C4D40E2-EEFF-8491-5B6C-551992BB9ED3}"/>
              </a:ext>
            </a:extLst>
          </p:cNvPr>
          <p:cNvSpPr/>
          <p:nvPr/>
        </p:nvSpPr>
        <p:spPr>
          <a:xfrm>
            <a:off x="5321300" y="24003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F639C3-1FC8-F67E-AC4A-44F58F81686A}"/>
              </a:ext>
            </a:extLst>
          </p:cNvPr>
          <p:cNvSpPr txBox="1"/>
          <p:nvPr/>
        </p:nvSpPr>
        <p:spPr>
          <a:xfrm>
            <a:off x="5321300" y="2463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B1182B-3645-B023-C700-8FA19C37A2DE}"/>
              </a:ext>
            </a:extLst>
          </p:cNvPr>
          <p:cNvSpPr txBox="1"/>
          <p:nvPr/>
        </p:nvSpPr>
        <p:spPr>
          <a:xfrm>
            <a:off x="5803900" y="24130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Organize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560623-7890-CDB8-C861-6C591AE3FC91}"/>
              </a:ext>
            </a:extLst>
          </p:cNvPr>
          <p:cNvSpPr txBox="1"/>
          <p:nvPr/>
        </p:nvSpPr>
        <p:spPr>
          <a:xfrm>
            <a:off x="5321300" y="28829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Map a physical location or choose a digital folder.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BAA8AF0-6F4E-01FC-AF58-993253D31739}"/>
              </a:ext>
            </a:extLst>
          </p:cNvPr>
          <p:cNvSpPr/>
          <p:nvPr/>
        </p:nvSpPr>
        <p:spPr>
          <a:xfrm>
            <a:off x="7493000" y="22225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94515AD-BF16-ECF7-08D6-EE0340BA8144}"/>
              </a:ext>
            </a:extLst>
          </p:cNvPr>
          <p:cNvSpPr/>
          <p:nvPr/>
        </p:nvSpPr>
        <p:spPr>
          <a:xfrm>
            <a:off x="7670800" y="24003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9C9E11-EF3B-15E0-7178-73CFB5548F22}"/>
              </a:ext>
            </a:extLst>
          </p:cNvPr>
          <p:cNvSpPr txBox="1"/>
          <p:nvPr/>
        </p:nvSpPr>
        <p:spPr>
          <a:xfrm>
            <a:off x="7670800" y="2463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67B98C-272A-8833-1C2A-0447548283E7}"/>
              </a:ext>
            </a:extLst>
          </p:cNvPr>
          <p:cNvSpPr txBox="1"/>
          <p:nvPr/>
        </p:nvSpPr>
        <p:spPr>
          <a:xfrm>
            <a:off x="8153400" y="24130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F82E9A-A9A5-E146-3DDA-F1F7B7278E1A}"/>
              </a:ext>
            </a:extLst>
          </p:cNvPr>
          <p:cNvSpPr txBox="1"/>
          <p:nvPr/>
        </p:nvSpPr>
        <p:spPr>
          <a:xfrm>
            <a:off x="7670800" y="28829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The right people check, approve, and update it.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8FD0ECE-EDDB-E968-44AE-93BF9F45493E}"/>
              </a:ext>
            </a:extLst>
          </p:cNvPr>
          <p:cNvSpPr/>
          <p:nvPr/>
        </p:nvSpPr>
        <p:spPr>
          <a:xfrm>
            <a:off x="9842500" y="22225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82D6C2-039F-0241-47EE-93AFA243B975}"/>
              </a:ext>
            </a:extLst>
          </p:cNvPr>
          <p:cNvSpPr/>
          <p:nvPr/>
        </p:nvSpPr>
        <p:spPr>
          <a:xfrm>
            <a:off x="10020300" y="24003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F2932D-726E-9185-C0BA-E45E2FD6E840}"/>
              </a:ext>
            </a:extLst>
          </p:cNvPr>
          <p:cNvSpPr txBox="1"/>
          <p:nvPr/>
        </p:nvSpPr>
        <p:spPr>
          <a:xfrm>
            <a:off x="10020300" y="2463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391803-DB67-6BE4-1DE3-59ED1E4205E7}"/>
              </a:ext>
            </a:extLst>
          </p:cNvPr>
          <p:cNvSpPr txBox="1"/>
          <p:nvPr/>
        </p:nvSpPr>
        <p:spPr>
          <a:xfrm>
            <a:off x="10502900" y="24130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Retrieve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618B4A-C18F-244B-E881-046F58CF8482}"/>
              </a:ext>
            </a:extLst>
          </p:cNvPr>
          <p:cNvSpPr txBox="1"/>
          <p:nvPr/>
        </p:nvSpPr>
        <p:spPr>
          <a:xfrm>
            <a:off x="10020300" y="28829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Authorized users search, open, or locate the record.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0B9CE15-11B9-F629-2DB3-9CEB665EC561}"/>
              </a:ext>
            </a:extLst>
          </p:cNvPr>
          <p:cNvSpPr/>
          <p:nvPr/>
        </p:nvSpPr>
        <p:spPr>
          <a:xfrm>
            <a:off x="1587500" y="4254500"/>
            <a:ext cx="9017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92D54B-BDE1-95BB-97D1-BB26158142D9}"/>
              </a:ext>
            </a:extLst>
          </p:cNvPr>
          <p:cNvSpPr/>
          <p:nvPr/>
        </p:nvSpPr>
        <p:spPr>
          <a:xfrm>
            <a:off x="1587500" y="4254500"/>
            <a:ext cx="63500" cy="11430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B0CBF1-423F-0B05-413C-3C8C984858B5}"/>
              </a:ext>
            </a:extLst>
          </p:cNvPr>
          <p:cNvSpPr txBox="1"/>
          <p:nvPr/>
        </p:nvSpPr>
        <p:spPr>
          <a:xfrm>
            <a:off x="1816100" y="4445000"/>
            <a:ext cx="8572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CLEAR AND CONTROLLED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DAAE9D-869B-C844-C5FE-9A501C5EFCB9}"/>
              </a:ext>
            </a:extLst>
          </p:cNvPr>
          <p:cNvSpPr txBox="1"/>
          <p:nvPr/>
        </p:nvSpPr>
        <p:spPr>
          <a:xfrm>
            <a:off x="1816100" y="4686300"/>
            <a:ext cx="8572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The result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01337E-BBEC-1E62-F812-73885F89DD82}"/>
              </a:ext>
            </a:extLst>
          </p:cNvPr>
          <p:cNvSpPr txBox="1"/>
          <p:nvPr/>
        </p:nvSpPr>
        <p:spPr>
          <a:xfrm>
            <a:off x="1816100" y="5092700"/>
            <a:ext cx="8572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Staff spend less time searching, managers see the current status, and clients receive a consistent, accountable service.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6101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B68027-7433-0E8A-24BF-F7E7A82B3831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ACCESS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68A98-314A-D1D4-3B02-6B191945E03E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2828A-1982-5455-E918-20E40A53DFAF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ROLES AND RESPONSIBILITIES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16446-2134-131F-BC75-E816D0E1A6F2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Every user sees a workspace appropriate to the job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A55E0-12EE-7CA3-8D08-946F2F911DD5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Actual access is controlled by both role permissions and document-specific assignments.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9C0641-1497-B65B-9C55-8024437DC295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4AE7BF-D091-360F-4438-AA90E4A043A8}"/>
              </a:ext>
            </a:extLst>
          </p:cNvPr>
          <p:cNvSpPr/>
          <p:nvPr/>
        </p:nvSpPr>
        <p:spPr>
          <a:xfrm>
            <a:off x="685800" y="1905000"/>
            <a:ext cx="3302000" cy="345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A208CD-EB1C-24E4-DAC8-E2979EC20111}"/>
              </a:ext>
            </a:extLst>
          </p:cNvPr>
          <p:cNvSpPr/>
          <p:nvPr/>
        </p:nvSpPr>
        <p:spPr>
          <a:xfrm>
            <a:off x="685800" y="1905000"/>
            <a:ext cx="63500" cy="34544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75A7E0-3A61-14B3-489C-2D46F0FDCB3B}"/>
              </a:ext>
            </a:extLst>
          </p:cNvPr>
          <p:cNvSpPr txBox="1"/>
          <p:nvPr/>
        </p:nvSpPr>
        <p:spPr>
          <a:xfrm>
            <a:off x="914400" y="2095500"/>
            <a:ext cx="2857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FULL GOVERNANCE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83F63-2C89-4CAA-5EE1-FF2A480369B2}"/>
              </a:ext>
            </a:extLst>
          </p:cNvPr>
          <p:cNvSpPr txBox="1"/>
          <p:nvPr/>
        </p:nvSpPr>
        <p:spPr>
          <a:xfrm>
            <a:off x="914400" y="23368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Administrator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E15997-852B-721F-3F31-863918517513}"/>
              </a:ext>
            </a:extLst>
          </p:cNvPr>
          <p:cNvSpPr txBox="1"/>
          <p:nvPr/>
        </p:nvSpPr>
        <p:spPr>
          <a:xfrm>
            <a:off x="914400" y="2743200"/>
            <a:ext cx="2857500" cy="8463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Configure storage catalogs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Manage users and roles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Create and manage documents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Review requests and disposal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Run backups and view audit logs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610AA7-0041-ED47-5E11-44A7E83D0F3E}"/>
              </a:ext>
            </a:extLst>
          </p:cNvPr>
          <p:cNvSpPr/>
          <p:nvPr/>
        </p:nvSpPr>
        <p:spPr>
          <a:xfrm>
            <a:off x="4445000" y="1905000"/>
            <a:ext cx="3302000" cy="345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053DAF-BBFE-0CDE-41FA-A4C3C69A7B0A}"/>
              </a:ext>
            </a:extLst>
          </p:cNvPr>
          <p:cNvSpPr/>
          <p:nvPr/>
        </p:nvSpPr>
        <p:spPr>
          <a:xfrm>
            <a:off x="4445000" y="1905000"/>
            <a:ext cx="63500" cy="34544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9A165F-C48A-A393-B8AD-6FBF8D858096}"/>
              </a:ext>
            </a:extLst>
          </p:cNvPr>
          <p:cNvSpPr txBox="1"/>
          <p:nvPr/>
        </p:nvSpPr>
        <p:spPr>
          <a:xfrm>
            <a:off x="4673600" y="2095500"/>
            <a:ext cx="2857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71717"/>
                </a:solidFill>
                <a:latin typeface="Aptos" panose="020B0004020202020204" pitchFamily="34" charset="0"/>
              </a:rPr>
              <a:t>DAILY OPERATIONS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00E98-2CD3-95FF-5E7B-10E3D7DA8881}"/>
              </a:ext>
            </a:extLst>
          </p:cNvPr>
          <p:cNvSpPr txBox="1"/>
          <p:nvPr/>
        </p:nvSpPr>
        <p:spPr>
          <a:xfrm>
            <a:off x="4673600" y="23368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Staff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C0F961-71FA-82A6-FBFA-E5FDCE92FD08}"/>
              </a:ext>
            </a:extLst>
          </p:cNvPr>
          <p:cNvSpPr txBox="1"/>
          <p:nvPr/>
        </p:nvSpPr>
        <p:spPr>
          <a:xfrm>
            <a:off x="4673600" y="2743200"/>
            <a:ext cx="2857500" cy="101566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Work with permitted documents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Create requests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Upload attachments or revisions when allowed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Track personal request status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Receive workflow notifications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6D8AB06-19F4-BE1A-27FB-8FDF92DE32CB}"/>
              </a:ext>
            </a:extLst>
          </p:cNvPr>
          <p:cNvSpPr/>
          <p:nvPr/>
        </p:nvSpPr>
        <p:spPr>
          <a:xfrm>
            <a:off x="8204200" y="1905000"/>
            <a:ext cx="3302000" cy="345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08529C-65FE-72BC-FC39-BFDF9FF9070A}"/>
              </a:ext>
            </a:extLst>
          </p:cNvPr>
          <p:cNvSpPr/>
          <p:nvPr/>
        </p:nvSpPr>
        <p:spPr>
          <a:xfrm>
            <a:off x="8204200" y="1905000"/>
            <a:ext cx="63500" cy="3454400"/>
          </a:xfrm>
          <a:prstGeom prst="rect">
            <a:avLst/>
          </a:prstGeom>
          <a:solidFill>
            <a:srgbClr val="478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05EEAD-9486-CA80-83C1-C4F3F5762808}"/>
              </a:ext>
            </a:extLst>
          </p:cNvPr>
          <p:cNvSpPr txBox="1"/>
          <p:nvPr/>
        </p:nvSpPr>
        <p:spPr>
          <a:xfrm>
            <a:off x="8432800" y="2095500"/>
            <a:ext cx="2857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478034"/>
                </a:solidFill>
                <a:latin typeface="Aptos" panose="020B0004020202020204" pitchFamily="34" charset="0"/>
              </a:rPr>
              <a:t>CONTROLLED 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892F27-9876-41C3-6087-8B0F293E1DE8}"/>
              </a:ext>
            </a:extLst>
          </p:cNvPr>
          <p:cNvSpPr txBox="1"/>
          <p:nvPr/>
        </p:nvSpPr>
        <p:spPr>
          <a:xfrm>
            <a:off x="8432800" y="23368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Viewer / Auditor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D5F94C-8495-E6CB-9878-4042E59FF46E}"/>
              </a:ext>
            </a:extLst>
          </p:cNvPr>
          <p:cNvSpPr txBox="1"/>
          <p:nvPr/>
        </p:nvSpPr>
        <p:spPr>
          <a:xfrm>
            <a:off x="8432800" y="2743200"/>
            <a:ext cx="2857500" cy="8463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See assigned records only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Review document details and evidence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Follow mapped hardcopy routes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No broad edit access unless explicitly permitted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2670C59-759F-5445-472A-7401766E0DD4}"/>
              </a:ext>
            </a:extLst>
          </p:cNvPr>
          <p:cNvSpPr/>
          <p:nvPr/>
        </p:nvSpPr>
        <p:spPr>
          <a:xfrm>
            <a:off x="2667000" y="5689600"/>
            <a:ext cx="1841500" cy="3175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597A8-09EA-2136-3914-3505FE282A09}"/>
              </a:ext>
            </a:extLst>
          </p:cNvPr>
          <p:cNvSpPr txBox="1"/>
          <p:nvPr/>
        </p:nvSpPr>
        <p:spPr>
          <a:xfrm>
            <a:off x="2743200" y="5765800"/>
            <a:ext cx="1689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7F1919"/>
                </a:solidFill>
                <a:latin typeface="Aptos" panose="020B0004020202020204" pitchFamily="34" charset="0"/>
              </a:rPr>
              <a:t>ROLE PERMISSION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7241EC-0CF7-F11B-40BE-08DC0B254BFA}"/>
              </a:ext>
            </a:extLst>
          </p:cNvPr>
          <p:cNvSpPr txBox="1"/>
          <p:nvPr/>
        </p:nvSpPr>
        <p:spPr>
          <a:xfrm>
            <a:off x="4648200" y="5689600"/>
            <a:ext cx="38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600" b="1">
                <a:solidFill>
                  <a:srgbClr val="991B1B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46BAC65-DF6D-6A5C-0411-820AA9005518}"/>
              </a:ext>
            </a:extLst>
          </p:cNvPr>
          <p:cNvSpPr/>
          <p:nvPr/>
        </p:nvSpPr>
        <p:spPr>
          <a:xfrm>
            <a:off x="5181600" y="5689600"/>
            <a:ext cx="2235200" cy="3175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A8B0CD-234F-23C0-BF4F-FD650050824F}"/>
              </a:ext>
            </a:extLst>
          </p:cNvPr>
          <p:cNvSpPr txBox="1"/>
          <p:nvPr/>
        </p:nvSpPr>
        <p:spPr>
          <a:xfrm>
            <a:off x="5257800" y="5765800"/>
            <a:ext cx="2082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7F1919"/>
                </a:solidFill>
                <a:latin typeface="Aptos" panose="020B0004020202020204" pitchFamily="34" charset="0"/>
              </a:rPr>
              <a:t>DOCUMENT ASSIGNMENT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4C62D2-0AE6-CF6B-76D8-3E41F08C8002}"/>
              </a:ext>
            </a:extLst>
          </p:cNvPr>
          <p:cNvSpPr txBox="1"/>
          <p:nvPr/>
        </p:nvSpPr>
        <p:spPr>
          <a:xfrm>
            <a:off x="7569200" y="5689600"/>
            <a:ext cx="38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600" b="1">
                <a:solidFill>
                  <a:srgbClr val="991B1B"/>
                </a:solidFill>
                <a:latin typeface="Aptos" panose="020B0004020202020204" pitchFamily="34" charset="0"/>
              </a:rPr>
              <a:t>=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8C7706D-1E31-9B01-34B4-04060D511590}"/>
              </a:ext>
            </a:extLst>
          </p:cNvPr>
          <p:cNvSpPr/>
          <p:nvPr/>
        </p:nvSpPr>
        <p:spPr>
          <a:xfrm>
            <a:off x="8102600" y="5689600"/>
            <a:ext cx="1905000" cy="3175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A43507-9120-744B-4903-75C438557E75}"/>
              </a:ext>
            </a:extLst>
          </p:cNvPr>
          <p:cNvSpPr txBox="1"/>
          <p:nvPr/>
        </p:nvSpPr>
        <p:spPr>
          <a:xfrm>
            <a:off x="8178800" y="5765800"/>
            <a:ext cx="175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FFFFFF"/>
                </a:solidFill>
                <a:latin typeface="Aptos" panose="020B0004020202020204" pitchFamily="34" charset="0"/>
              </a:rPr>
              <a:t>VISIBLE &amp; ALLOWED</a:t>
            </a:r>
          </a:p>
        </p:txBody>
      </p:sp>
    </p:spTree>
    <p:extLst>
      <p:ext uri="{BB962C8B-B14F-4D97-AF65-F5344CB8AC3E}">
        <p14:creationId xmlns:p14="http://schemas.microsoft.com/office/powerpoint/2010/main" val="28195307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393CEE-BB2F-A829-A789-E4CD4FF7F5FD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USER TUTORIAL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8C7BC-6331-19F1-2870-ABA483B4FE05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44AFA-A9EF-D992-B7CE-A1DCBF70AEB9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GETTING STARTED SECURELY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8F66E-70E8-739F-0BFF-F7A59D5FF63D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Sign in with your own account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C7117-46AC-48C0-BB8C-B686D624108C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Your role determines the pages and actions available after login.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0FB3D-F791-0823-0A64-E472D931504D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FB15EF-12DF-890E-DBE9-7D085E3E3E30}"/>
              </a:ext>
            </a:extLst>
          </p:cNvPr>
          <p:cNvSpPr/>
          <p:nvPr/>
        </p:nvSpPr>
        <p:spPr>
          <a:xfrm>
            <a:off x="685800" y="2095500"/>
            <a:ext cx="2794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2CDBF0-F1F5-0AD5-515D-5623625DA2FA}"/>
              </a:ext>
            </a:extLst>
          </p:cNvPr>
          <p:cNvSpPr/>
          <p:nvPr/>
        </p:nvSpPr>
        <p:spPr>
          <a:xfrm>
            <a:off x="863600" y="22733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BAAF8-3CCE-E885-7593-3E8359EF0E29}"/>
              </a:ext>
            </a:extLst>
          </p:cNvPr>
          <p:cNvSpPr txBox="1"/>
          <p:nvPr/>
        </p:nvSpPr>
        <p:spPr>
          <a:xfrm>
            <a:off x="863600" y="2336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E062CA-83BF-D735-310A-DFFB8041FEE6}"/>
              </a:ext>
            </a:extLst>
          </p:cNvPr>
          <p:cNvSpPr txBox="1"/>
          <p:nvPr/>
        </p:nvSpPr>
        <p:spPr>
          <a:xfrm>
            <a:off x="1346200" y="22860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Open PK DMS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FE2A6-0BC1-19EB-42D4-2F121B537363}"/>
              </a:ext>
            </a:extLst>
          </p:cNvPr>
          <p:cNvSpPr txBox="1"/>
          <p:nvPr/>
        </p:nvSpPr>
        <p:spPr>
          <a:xfrm>
            <a:off x="863600" y="2755900"/>
            <a:ext cx="243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Use the approved address provided by your organization.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4D9E5D-9A94-89D0-72E1-BC82972EA853}"/>
              </a:ext>
            </a:extLst>
          </p:cNvPr>
          <p:cNvSpPr/>
          <p:nvPr/>
        </p:nvSpPr>
        <p:spPr>
          <a:xfrm>
            <a:off x="685800" y="3708400"/>
            <a:ext cx="2794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92257E-69B1-0F55-9B71-A661BDB58EDF}"/>
              </a:ext>
            </a:extLst>
          </p:cNvPr>
          <p:cNvSpPr/>
          <p:nvPr/>
        </p:nvSpPr>
        <p:spPr>
          <a:xfrm>
            <a:off x="863600" y="38862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5F950D-489F-62FB-D3F7-597292411BD2}"/>
              </a:ext>
            </a:extLst>
          </p:cNvPr>
          <p:cNvSpPr txBox="1"/>
          <p:nvPr/>
        </p:nvSpPr>
        <p:spPr>
          <a:xfrm>
            <a:off x="863600" y="39497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409ED3-71AC-7805-D59C-9BB6717499B7}"/>
              </a:ext>
            </a:extLst>
          </p:cNvPr>
          <p:cNvSpPr txBox="1"/>
          <p:nvPr/>
        </p:nvSpPr>
        <p:spPr>
          <a:xfrm>
            <a:off x="1346200" y="38989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Enter your account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63020-68E5-D8A0-2FB2-DA8EAC6CE857}"/>
              </a:ext>
            </a:extLst>
          </p:cNvPr>
          <p:cNvSpPr txBox="1"/>
          <p:nvPr/>
        </p:nvSpPr>
        <p:spPr>
          <a:xfrm>
            <a:off x="863600" y="4368800"/>
            <a:ext cx="243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Type your assigned email and password.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216055-91D6-C2E7-197D-EF5C64B319EE}"/>
              </a:ext>
            </a:extLst>
          </p:cNvPr>
          <p:cNvSpPr/>
          <p:nvPr/>
        </p:nvSpPr>
        <p:spPr>
          <a:xfrm>
            <a:off x="685800" y="5321300"/>
            <a:ext cx="2794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B51F781-DCB4-268D-48EA-E4998B009562}"/>
              </a:ext>
            </a:extLst>
          </p:cNvPr>
          <p:cNvSpPr/>
          <p:nvPr/>
        </p:nvSpPr>
        <p:spPr>
          <a:xfrm>
            <a:off x="863600" y="54991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0DC851-171E-AE66-F814-88258F43472F}"/>
              </a:ext>
            </a:extLst>
          </p:cNvPr>
          <p:cNvSpPr txBox="1"/>
          <p:nvPr/>
        </p:nvSpPr>
        <p:spPr>
          <a:xfrm>
            <a:off x="863600" y="55626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F759F-D755-9142-DE98-D55B70D7EE3C}"/>
              </a:ext>
            </a:extLst>
          </p:cNvPr>
          <p:cNvSpPr txBox="1"/>
          <p:nvPr/>
        </p:nvSpPr>
        <p:spPr>
          <a:xfrm>
            <a:off x="1346200" y="55118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Check your role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7EE4BD-0224-D826-9895-CB9839FBE72C}"/>
              </a:ext>
            </a:extLst>
          </p:cNvPr>
          <p:cNvSpPr txBox="1"/>
          <p:nvPr/>
        </p:nvSpPr>
        <p:spPr>
          <a:xfrm>
            <a:off x="863600" y="5981700"/>
            <a:ext cx="243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Confirm your name and role in the top-right account menu.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352EB6-617C-3F3C-878C-7FBF16D0E442}"/>
              </a:ext>
            </a:extLst>
          </p:cNvPr>
          <p:cNvSpPr/>
          <p:nvPr/>
        </p:nvSpPr>
        <p:spPr>
          <a:xfrm>
            <a:off x="3937000" y="1905000"/>
            <a:ext cx="7543800" cy="40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4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DE26F0-0184-7122-8D9C-053DA78F7273}"/>
              </a:ext>
            </a:extLst>
          </p:cNvPr>
          <p:cNvSpPr/>
          <p:nvPr/>
        </p:nvSpPr>
        <p:spPr>
          <a:xfrm>
            <a:off x="3937000" y="1905000"/>
            <a:ext cx="7543800" cy="381000"/>
          </a:xfrm>
          <a:prstGeom prst="rect">
            <a:avLst/>
          </a:prstGeom>
          <a:solidFill>
            <a:srgbClr val="1B18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8CF001-AFB2-9507-7845-6E6E9E204E3F}"/>
              </a:ext>
            </a:extLst>
          </p:cNvPr>
          <p:cNvSpPr/>
          <p:nvPr/>
        </p:nvSpPr>
        <p:spPr>
          <a:xfrm>
            <a:off x="4089400" y="2044700"/>
            <a:ext cx="88900" cy="88900"/>
          </a:xfrm>
          <a:prstGeom prst="ellipse">
            <a:avLst/>
          </a:prstGeom>
          <a:solidFill>
            <a:srgbClr val="7A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70CED6F-5260-80EA-E020-38A01B7EA6F3}"/>
              </a:ext>
            </a:extLst>
          </p:cNvPr>
          <p:cNvSpPr/>
          <p:nvPr/>
        </p:nvSpPr>
        <p:spPr>
          <a:xfrm>
            <a:off x="4254500" y="2044700"/>
            <a:ext cx="88900" cy="88900"/>
          </a:xfrm>
          <a:prstGeom prst="ellipse">
            <a:avLst/>
          </a:prstGeom>
          <a:solidFill>
            <a:srgbClr val="7A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651300-3660-5522-98BD-C73B2B225F71}"/>
              </a:ext>
            </a:extLst>
          </p:cNvPr>
          <p:cNvSpPr/>
          <p:nvPr/>
        </p:nvSpPr>
        <p:spPr>
          <a:xfrm>
            <a:off x="4419600" y="2044700"/>
            <a:ext cx="88900" cy="88900"/>
          </a:xfrm>
          <a:prstGeom prst="ellipse">
            <a:avLst/>
          </a:prstGeom>
          <a:solidFill>
            <a:srgbClr val="7A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9474DD-0456-6FF8-5803-6266D208D670}"/>
              </a:ext>
            </a:extLst>
          </p:cNvPr>
          <p:cNvSpPr txBox="1"/>
          <p:nvPr/>
        </p:nvSpPr>
        <p:spPr>
          <a:xfrm>
            <a:off x="4673600" y="2019300"/>
            <a:ext cx="53848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700" b="1">
                <a:solidFill>
                  <a:srgbClr val="FFFFFF"/>
                </a:solidFill>
                <a:latin typeface="Aptos" panose="020B0004020202020204" pitchFamily="34" charset="0"/>
              </a:rPr>
              <a:t>PK DOCUMENT MANAGEMENT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E5A276A-C7D1-B5AD-C4DD-8168CE64ECA8}"/>
              </a:ext>
            </a:extLst>
          </p:cNvPr>
          <p:cNvSpPr/>
          <p:nvPr/>
        </p:nvSpPr>
        <p:spPr>
          <a:xfrm>
            <a:off x="10388600" y="1955800"/>
            <a:ext cx="863600" cy="31750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7EE081-723F-13C9-6BF0-F7DDD00C89C5}"/>
              </a:ext>
            </a:extLst>
          </p:cNvPr>
          <p:cNvSpPr txBox="1"/>
          <p:nvPr/>
        </p:nvSpPr>
        <p:spPr>
          <a:xfrm>
            <a:off x="10464800" y="2032000"/>
            <a:ext cx="711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FFFFFF"/>
                </a:solidFill>
                <a:latin typeface="Aptos" panose="020B0004020202020204" pitchFamily="34" charset="0"/>
              </a:rPr>
              <a:t>SIGN IN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985BC0-F8B8-8DC3-F070-8995BD5BDD78}"/>
              </a:ext>
            </a:extLst>
          </p:cNvPr>
          <p:cNvSpPr/>
          <p:nvPr/>
        </p:nvSpPr>
        <p:spPr>
          <a:xfrm>
            <a:off x="3937000" y="2286000"/>
            <a:ext cx="1168400" cy="3683000"/>
          </a:xfrm>
          <a:prstGeom prst="rect">
            <a:avLst/>
          </a:prstGeom>
          <a:solidFill>
            <a:srgbClr val="F5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725277-4D30-792B-22D6-790FC00E5A51}"/>
              </a:ext>
            </a:extLst>
          </p:cNvPr>
          <p:cNvSpPr txBox="1"/>
          <p:nvPr/>
        </p:nvSpPr>
        <p:spPr>
          <a:xfrm>
            <a:off x="4089400" y="2565400"/>
            <a:ext cx="889000" cy="861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Dashboard</a:t>
            </a:r>
          </a:p>
          <a:p>
            <a:endParaRPr lang="en-PH" sz="800" b="1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Documents</a:t>
            </a:r>
          </a:p>
          <a:p>
            <a:endParaRPr lang="en-PH" sz="800" b="1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Requests</a:t>
            </a:r>
          </a:p>
          <a:p>
            <a:endParaRPr lang="en-PH" sz="800" b="1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Notifications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BEDE8E-5E09-3008-B385-C84C46E28F17}"/>
              </a:ext>
            </a:extLst>
          </p:cNvPr>
          <p:cNvSpPr txBox="1"/>
          <p:nvPr/>
        </p:nvSpPr>
        <p:spPr>
          <a:xfrm>
            <a:off x="5359400" y="2514600"/>
            <a:ext cx="58928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500" b="1">
                <a:solidFill>
                  <a:srgbClr val="171717"/>
                </a:solidFill>
                <a:latin typeface="Aptos" panose="020B0004020202020204" pitchFamily="34" charset="0"/>
              </a:rPr>
              <a:t>Welcome back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B0AAD4-C516-D4E8-CAA5-2283AA3F7448}"/>
              </a:ext>
            </a:extLst>
          </p:cNvPr>
          <p:cNvSpPr txBox="1"/>
          <p:nvPr/>
        </p:nvSpPr>
        <p:spPr>
          <a:xfrm>
            <a:off x="5359400" y="2971800"/>
            <a:ext cx="2286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80726B"/>
                </a:solidFill>
                <a:latin typeface="Aptos" panose="020B0004020202020204" pitchFamily="34" charset="0"/>
              </a:rPr>
              <a:t>Email address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34FB568-3CEB-4882-2E0B-9D621B94AA0A}"/>
              </a:ext>
            </a:extLst>
          </p:cNvPr>
          <p:cNvSpPr/>
          <p:nvPr/>
        </p:nvSpPr>
        <p:spPr>
          <a:xfrm>
            <a:off x="5359400" y="3225800"/>
            <a:ext cx="4064000" cy="4318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AA8E2F-2E4B-67AF-B631-2CD1C092F546}"/>
              </a:ext>
            </a:extLst>
          </p:cNvPr>
          <p:cNvSpPr txBox="1"/>
          <p:nvPr/>
        </p:nvSpPr>
        <p:spPr>
          <a:xfrm>
            <a:off x="5359400" y="3860800"/>
            <a:ext cx="2286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80726B"/>
                </a:solidFill>
                <a:latin typeface="Aptos" panose="020B0004020202020204" pitchFamily="34" charset="0"/>
              </a:rPr>
              <a:t>Password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ED2D385-63D2-3A86-AFD3-15E4F3313F4B}"/>
              </a:ext>
            </a:extLst>
          </p:cNvPr>
          <p:cNvSpPr/>
          <p:nvPr/>
        </p:nvSpPr>
        <p:spPr>
          <a:xfrm>
            <a:off x="5359400" y="4114800"/>
            <a:ext cx="4064000" cy="4318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CA4C49D-98A1-2CB4-F44A-C4AE1B5275FB}"/>
              </a:ext>
            </a:extLst>
          </p:cNvPr>
          <p:cNvSpPr/>
          <p:nvPr/>
        </p:nvSpPr>
        <p:spPr>
          <a:xfrm>
            <a:off x="5359400" y="4813300"/>
            <a:ext cx="4064000" cy="48260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89A647-3347-4E9C-4BF1-F43E5279750D}"/>
              </a:ext>
            </a:extLst>
          </p:cNvPr>
          <p:cNvSpPr txBox="1"/>
          <p:nvPr/>
        </p:nvSpPr>
        <p:spPr>
          <a:xfrm>
            <a:off x="5359400" y="49657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Sign in securely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67730B-43CB-8C4F-EACD-626D4C510817}"/>
              </a:ext>
            </a:extLst>
          </p:cNvPr>
          <p:cNvSpPr txBox="1"/>
          <p:nvPr/>
        </p:nvSpPr>
        <p:spPr>
          <a:xfrm>
            <a:off x="5359400" y="5575300"/>
            <a:ext cx="495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7F1919"/>
                </a:solidFill>
                <a:latin typeface="Aptos" panose="020B0004020202020204" pitchFamily="34" charset="0"/>
              </a:rPr>
              <a:t>Leave Remember me off on a shared computer. Always sign out when finished.</a:t>
            </a:r>
            <a:endParaRPr lang="en-PH" sz="1000" b="1">
              <a:solidFill>
                <a:srgbClr val="7F191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5663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EE71C1-C123-A11A-A602-8FEDD44FDB28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USER TUTORIAL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9AB6C-EDD3-E9B9-67DE-46C4EF62CD52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83BEA-FD36-3E26-6601-8492CED8C4A4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DASHBOARD TOUR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64E96-4824-9963-36F6-CD0F21508948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Start with the operational picture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83A5E-FAC3-DB0A-B649-D37450F4E8BF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The dashboard summarizes the workload and provides fast routes into the document lifecycle.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E890A-38DC-180F-9D91-CBC576819A32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125F3B-9E2C-E30A-596C-7719EF99701B}"/>
              </a:ext>
            </a:extLst>
          </p:cNvPr>
          <p:cNvSpPr/>
          <p:nvPr/>
        </p:nvSpPr>
        <p:spPr>
          <a:xfrm>
            <a:off x="685800" y="1968500"/>
            <a:ext cx="2413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3E3FF-6D6B-4AFC-04BA-AC3CBCBADDA2}"/>
              </a:ext>
            </a:extLst>
          </p:cNvPr>
          <p:cNvSpPr txBox="1"/>
          <p:nvPr/>
        </p:nvSpPr>
        <p:spPr>
          <a:xfrm>
            <a:off x="889000" y="2159000"/>
            <a:ext cx="4572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200" b="1">
                <a:solidFill>
                  <a:srgbClr val="991B1B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E6A3F0-3745-A66A-205C-88F33FC60F83}"/>
              </a:ext>
            </a:extLst>
          </p:cNvPr>
          <p:cNvSpPr txBox="1"/>
          <p:nvPr/>
        </p:nvSpPr>
        <p:spPr>
          <a:xfrm>
            <a:off x="1473200" y="2159000"/>
            <a:ext cx="1422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Total documents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D8D256-9B03-F977-3BFF-1133A9F81C1E}"/>
              </a:ext>
            </a:extLst>
          </p:cNvPr>
          <p:cNvSpPr txBox="1"/>
          <p:nvPr/>
        </p:nvSpPr>
        <p:spPr>
          <a:xfrm>
            <a:off x="889000" y="2679700"/>
            <a:ext cx="2006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>
                <a:solidFill>
                  <a:srgbClr val="80726B"/>
                </a:solidFill>
                <a:latin typeface="Aptos" panose="020B0004020202020204" pitchFamily="34" charset="0"/>
              </a:rPr>
              <a:t>Complete controlled register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16866F-4902-34BB-7C8C-25CA5AC79DE3}"/>
              </a:ext>
            </a:extLst>
          </p:cNvPr>
          <p:cNvSpPr/>
          <p:nvPr/>
        </p:nvSpPr>
        <p:spPr>
          <a:xfrm>
            <a:off x="3403600" y="1968500"/>
            <a:ext cx="2413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F2E5FF-24E5-0D58-527E-087931A74CA1}"/>
              </a:ext>
            </a:extLst>
          </p:cNvPr>
          <p:cNvSpPr txBox="1"/>
          <p:nvPr/>
        </p:nvSpPr>
        <p:spPr>
          <a:xfrm>
            <a:off x="3606800" y="2159000"/>
            <a:ext cx="4572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200" b="1">
                <a:solidFill>
                  <a:srgbClr val="991B1B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3CA7ED-AD3B-EAB4-CEFD-09AE2C5C7602}"/>
              </a:ext>
            </a:extLst>
          </p:cNvPr>
          <p:cNvSpPr txBox="1"/>
          <p:nvPr/>
        </p:nvSpPr>
        <p:spPr>
          <a:xfrm>
            <a:off x="4191000" y="2159000"/>
            <a:ext cx="1422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Hardcopy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BD1184-DDA6-589A-959A-7A4981441676}"/>
              </a:ext>
            </a:extLst>
          </p:cNvPr>
          <p:cNvSpPr txBox="1"/>
          <p:nvPr/>
        </p:nvSpPr>
        <p:spPr>
          <a:xfrm>
            <a:off x="3606800" y="2679700"/>
            <a:ext cx="2006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>
                <a:solidFill>
                  <a:srgbClr val="80726B"/>
                </a:solidFill>
                <a:latin typeface="Aptos" panose="020B0004020202020204" pitchFamily="34" charset="0"/>
              </a:rPr>
              <a:t>Physical records and locations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9FA7DB-D074-2A50-3740-F6AE459275C3}"/>
              </a:ext>
            </a:extLst>
          </p:cNvPr>
          <p:cNvSpPr/>
          <p:nvPr/>
        </p:nvSpPr>
        <p:spPr>
          <a:xfrm>
            <a:off x="6121400" y="1968500"/>
            <a:ext cx="2413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9385CF-3BA7-5630-4185-9BF655D3488F}"/>
              </a:ext>
            </a:extLst>
          </p:cNvPr>
          <p:cNvSpPr txBox="1"/>
          <p:nvPr/>
        </p:nvSpPr>
        <p:spPr>
          <a:xfrm>
            <a:off x="6324600" y="2159000"/>
            <a:ext cx="4572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200" b="1">
                <a:solidFill>
                  <a:srgbClr val="991B1B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8BED1F-D049-ABBB-9134-188821DB4178}"/>
              </a:ext>
            </a:extLst>
          </p:cNvPr>
          <p:cNvSpPr txBox="1"/>
          <p:nvPr/>
        </p:nvSpPr>
        <p:spPr>
          <a:xfrm>
            <a:off x="6908800" y="2159000"/>
            <a:ext cx="1422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Softcopy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827272-45BB-2FE8-89A2-BD111B34947C}"/>
              </a:ext>
            </a:extLst>
          </p:cNvPr>
          <p:cNvSpPr txBox="1"/>
          <p:nvPr/>
        </p:nvSpPr>
        <p:spPr>
          <a:xfrm>
            <a:off x="6324600" y="2679700"/>
            <a:ext cx="2006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>
                <a:solidFill>
                  <a:srgbClr val="80726B"/>
                </a:solidFill>
                <a:latin typeface="Aptos" panose="020B0004020202020204" pitchFamily="34" charset="0"/>
              </a:rPr>
              <a:t>Digital files and revisions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B23F09A-5F96-AE9A-7D19-9F8E48E04BC3}"/>
              </a:ext>
            </a:extLst>
          </p:cNvPr>
          <p:cNvSpPr/>
          <p:nvPr/>
        </p:nvSpPr>
        <p:spPr>
          <a:xfrm>
            <a:off x="8839200" y="1968500"/>
            <a:ext cx="2413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8DB67F-8923-5E13-7A0D-B365189F4310}"/>
              </a:ext>
            </a:extLst>
          </p:cNvPr>
          <p:cNvSpPr txBox="1"/>
          <p:nvPr/>
        </p:nvSpPr>
        <p:spPr>
          <a:xfrm>
            <a:off x="9042400" y="2159000"/>
            <a:ext cx="4572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200" b="1">
                <a:solidFill>
                  <a:srgbClr val="991B1B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C55701-8974-07B6-2A8B-8A20386ABD86}"/>
              </a:ext>
            </a:extLst>
          </p:cNvPr>
          <p:cNvSpPr txBox="1"/>
          <p:nvPr/>
        </p:nvSpPr>
        <p:spPr>
          <a:xfrm>
            <a:off x="9626600" y="2159000"/>
            <a:ext cx="1422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Pending work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C15325-8D62-C75E-0295-8D5B2875C9F9}"/>
              </a:ext>
            </a:extLst>
          </p:cNvPr>
          <p:cNvSpPr txBox="1"/>
          <p:nvPr/>
        </p:nvSpPr>
        <p:spPr>
          <a:xfrm>
            <a:off x="9042400" y="2679700"/>
            <a:ext cx="2006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>
                <a:solidFill>
                  <a:srgbClr val="80726B"/>
                </a:solidFill>
                <a:latin typeface="Aptos" panose="020B0004020202020204" pitchFamily="34" charset="0"/>
              </a:rPr>
              <a:t>Requests awaiting action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0B853F-1CFF-C566-B366-B6F7AE7DE4B1}"/>
              </a:ext>
            </a:extLst>
          </p:cNvPr>
          <p:cNvSpPr/>
          <p:nvPr/>
        </p:nvSpPr>
        <p:spPr>
          <a:xfrm>
            <a:off x="685800" y="3619500"/>
            <a:ext cx="5143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57D110-37EE-EA45-B83F-E3F47DA7CFE4}"/>
              </a:ext>
            </a:extLst>
          </p:cNvPr>
          <p:cNvSpPr/>
          <p:nvPr/>
        </p:nvSpPr>
        <p:spPr>
          <a:xfrm>
            <a:off x="685800" y="3619500"/>
            <a:ext cx="63500" cy="19050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F9AA68-9B29-2B67-6DBA-82455628184A}"/>
              </a:ext>
            </a:extLst>
          </p:cNvPr>
          <p:cNvSpPr txBox="1"/>
          <p:nvPr/>
        </p:nvSpPr>
        <p:spPr>
          <a:xfrm>
            <a:off x="914400" y="3810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DAILY CHECK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AB67FD-4997-2198-80A0-3F3BC706749A}"/>
              </a:ext>
            </a:extLst>
          </p:cNvPr>
          <p:cNvSpPr txBox="1"/>
          <p:nvPr/>
        </p:nvSpPr>
        <p:spPr>
          <a:xfrm>
            <a:off x="914400" y="4051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What to review first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4C8212-5717-A57D-3EEC-62004B6FF2C2}"/>
              </a:ext>
            </a:extLst>
          </p:cNvPr>
          <p:cNvSpPr txBox="1"/>
          <p:nvPr/>
        </p:nvSpPr>
        <p:spPr>
          <a:xfrm>
            <a:off x="914400" y="4457700"/>
            <a:ext cx="4699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>
                <a:solidFill>
                  <a:srgbClr val="80726B"/>
                </a:solidFill>
                <a:latin typeface="Aptos" panose="020B0004020202020204" pitchFamily="34" charset="0"/>
              </a:rPr>
              <a:t>1. Pending approvals</a:t>
            </a:r>
          </a:p>
          <a:p>
            <a:r>
              <a:rPr lang="en-PH" sz="1100">
                <a:solidFill>
                  <a:srgbClr val="80726B"/>
                </a:solidFill>
                <a:latin typeface="Aptos" panose="020B0004020202020204" pitchFamily="34" charset="0"/>
              </a:rPr>
              <a:t>2. New notifications</a:t>
            </a:r>
          </a:p>
          <a:p>
            <a:r>
              <a:rPr lang="en-PH" sz="1100">
                <a:solidFill>
                  <a:srgbClr val="80726B"/>
                </a:solidFill>
                <a:latin typeface="Aptos" panose="020B0004020202020204" pitchFamily="34" charset="0"/>
              </a:rPr>
              <a:t>3. Recent documents</a:t>
            </a:r>
          </a:p>
          <a:p>
            <a:r>
              <a:rPr lang="en-PH" sz="1100">
                <a:solidFill>
                  <a:srgbClr val="80726B"/>
                </a:solidFill>
                <a:latin typeface="Aptos" panose="020B0004020202020204" pitchFamily="34" charset="0"/>
              </a:rPr>
              <a:t>4. Storage or request exceptions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40B3DBD-46B8-D789-371E-B89D9724FDE0}"/>
              </a:ext>
            </a:extLst>
          </p:cNvPr>
          <p:cNvSpPr/>
          <p:nvPr/>
        </p:nvSpPr>
        <p:spPr>
          <a:xfrm>
            <a:off x="6337300" y="3619500"/>
            <a:ext cx="5143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6A47C2-17C1-C4C6-E41D-8D7CD8765438}"/>
              </a:ext>
            </a:extLst>
          </p:cNvPr>
          <p:cNvSpPr/>
          <p:nvPr/>
        </p:nvSpPr>
        <p:spPr>
          <a:xfrm>
            <a:off x="6337300" y="3619500"/>
            <a:ext cx="63500" cy="19050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B2759B-BB84-DC28-8135-A43FD1515B87}"/>
              </a:ext>
            </a:extLst>
          </p:cNvPr>
          <p:cNvSpPr txBox="1"/>
          <p:nvPr/>
        </p:nvSpPr>
        <p:spPr>
          <a:xfrm>
            <a:off x="6565900" y="3810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71717"/>
                </a:solidFill>
                <a:latin typeface="Aptos" panose="020B0004020202020204" pitchFamily="34" charset="0"/>
              </a:rPr>
              <a:t>ORIENTATION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854648-4D46-08AB-A78F-13CA8C935610}"/>
              </a:ext>
            </a:extLst>
          </p:cNvPr>
          <p:cNvSpPr txBox="1"/>
          <p:nvPr/>
        </p:nvSpPr>
        <p:spPr>
          <a:xfrm>
            <a:off x="6565900" y="4051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How to navigate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B06800-E844-2680-9E4A-C7F7ABFB1B82}"/>
              </a:ext>
            </a:extLst>
          </p:cNvPr>
          <p:cNvSpPr txBox="1"/>
          <p:nvPr/>
        </p:nvSpPr>
        <p:spPr>
          <a:xfrm>
            <a:off x="6565900" y="4457700"/>
            <a:ext cx="469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Use the left sidebar for document types, folders, requests, administration, and system tools. The top title always confirms the current workspace.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4340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1AF2DB-9D17-AD51-B23B-791714923A9B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DOCUMENT LIFECYCLE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38DF9A-DBCE-EC4D-4682-BE5D477EC0C5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AE8DF-1ED1-8EC9-5592-61858D034742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TWO DOCUMENT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1986A-CEA3-FDF5-CFDC-D617AB51BB9A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One register, two storage realities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8A1D97-5286-6E95-EA8E-6B71EFAC922B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The same controls apply, but retrieval information differs between physical and digital records.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65FA04-383E-C11E-EDC9-F30BD977D684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B2FA21-F3EE-ADD6-A8A3-AD6567C410D2}"/>
              </a:ext>
            </a:extLst>
          </p:cNvPr>
          <p:cNvSpPr/>
          <p:nvPr/>
        </p:nvSpPr>
        <p:spPr>
          <a:xfrm>
            <a:off x="685800" y="1968500"/>
            <a:ext cx="5143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38B1D2-94A4-DC9A-992D-F9DB070962EB}"/>
              </a:ext>
            </a:extLst>
          </p:cNvPr>
          <p:cNvSpPr/>
          <p:nvPr/>
        </p:nvSpPr>
        <p:spPr>
          <a:xfrm>
            <a:off x="685800" y="1968500"/>
            <a:ext cx="63500" cy="33020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581744-7AEB-C35E-4E31-4B606F32EBD7}"/>
              </a:ext>
            </a:extLst>
          </p:cNvPr>
          <p:cNvSpPr txBox="1"/>
          <p:nvPr/>
        </p:nvSpPr>
        <p:spPr>
          <a:xfrm>
            <a:off x="914400" y="2159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PHYSICAL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ADBC7-3E6C-381C-5B1C-8E32CB081E00}"/>
              </a:ext>
            </a:extLst>
          </p:cNvPr>
          <p:cNvSpPr txBox="1"/>
          <p:nvPr/>
        </p:nvSpPr>
        <p:spPr>
          <a:xfrm>
            <a:off x="914400" y="2400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Hardcopy document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58DD4E-CCB1-B12C-CC0E-0D2B29155889}"/>
              </a:ext>
            </a:extLst>
          </p:cNvPr>
          <p:cNvSpPr txBox="1"/>
          <p:nvPr/>
        </p:nvSpPr>
        <p:spPr>
          <a:xfrm>
            <a:off x="914400" y="2806700"/>
            <a:ext cx="4699000" cy="15234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Stored as an original physical item.</a:t>
            </a:r>
          </a:p>
          <a:p>
            <a:endParaRPr lang="en-US" sz="1100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Key information: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Area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Specific storage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Location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Asset number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Sequence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Attached scan evidence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39E8D9-51F7-507B-8D20-3B0FCA407B46}"/>
              </a:ext>
            </a:extLst>
          </p:cNvPr>
          <p:cNvSpPr/>
          <p:nvPr/>
        </p:nvSpPr>
        <p:spPr>
          <a:xfrm>
            <a:off x="6337300" y="1968500"/>
            <a:ext cx="5143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BCEEF8-5CE8-D8F0-12F7-7F827E363B52}"/>
              </a:ext>
            </a:extLst>
          </p:cNvPr>
          <p:cNvSpPr/>
          <p:nvPr/>
        </p:nvSpPr>
        <p:spPr>
          <a:xfrm>
            <a:off x="6337300" y="1968500"/>
            <a:ext cx="63500" cy="33020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58FD3-FA43-5352-099F-F085134B02DC}"/>
              </a:ext>
            </a:extLst>
          </p:cNvPr>
          <p:cNvSpPr txBox="1"/>
          <p:nvPr/>
        </p:nvSpPr>
        <p:spPr>
          <a:xfrm>
            <a:off x="6565900" y="2159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71717"/>
                </a:solidFill>
                <a:latin typeface="Aptos" panose="020B0004020202020204" pitchFamily="34" charset="0"/>
              </a:rPr>
              <a:t>DIGITAL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60B7EB-D32C-4044-A419-076BD06877ED}"/>
              </a:ext>
            </a:extLst>
          </p:cNvPr>
          <p:cNvSpPr txBox="1"/>
          <p:nvPr/>
        </p:nvSpPr>
        <p:spPr>
          <a:xfrm>
            <a:off x="6565900" y="2400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Softcopy document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0DE68-554A-A111-0EFB-47E0E8873BCF}"/>
              </a:ext>
            </a:extLst>
          </p:cNvPr>
          <p:cNvSpPr txBox="1"/>
          <p:nvPr/>
        </p:nvSpPr>
        <p:spPr>
          <a:xfrm>
            <a:off x="6565900" y="2806700"/>
            <a:ext cx="4699000" cy="15234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Stored as a controlled digital file.</a:t>
            </a:r>
          </a:p>
          <a:p>
            <a:endParaRPr lang="en-US" sz="1100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Key information: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Category folder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Current file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Revision number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Revision reason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Uploader and date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Supporting attachments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C88E71-3976-A300-1D56-29A1E57AC6EC}"/>
              </a:ext>
            </a:extLst>
          </p:cNvPr>
          <p:cNvSpPr txBox="1"/>
          <p:nvPr/>
        </p:nvSpPr>
        <p:spPr>
          <a:xfrm>
            <a:off x="1460500" y="5715000"/>
            <a:ext cx="927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7F1919"/>
                </a:solidFill>
                <a:latin typeface="Aptos" panose="020B0004020202020204" pitchFamily="34" charset="0"/>
              </a:rPr>
              <a:t>Both types include title, number, creator, requester, status, assignment, dates, and audit activity.</a:t>
            </a:r>
            <a:endParaRPr lang="en-PH" sz="1300" b="1">
              <a:solidFill>
                <a:srgbClr val="7F191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0160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B12577-856E-7CCE-6BB5-F68F5E8DB719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HARDCOPY TUTORIAL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36627-1C45-E382-32FC-D7A3D9523DEB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71808-B684-F47D-54F7-5851BCA49BD4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HARDCOPY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E1576-1E15-CE48-5D65-C718AEE2485A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800" b="1">
                <a:solidFill>
                  <a:srgbClr val="171717"/>
                </a:solidFill>
                <a:latin typeface="Aptos" panose="020B0004020202020204" pitchFamily="34" charset="0"/>
              </a:rPr>
              <a:t>Register -&gt; map -&gt; assign -&gt; retrieve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70554-3735-B022-ED2B-9AFBD1B9893E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A hardcopy record must tell the next person exactly where the original can be found.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C6A29-975B-3DD9-71BD-411CF92B5837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9E0A36-BB89-7718-C3E3-783E5412AA26}"/>
              </a:ext>
            </a:extLst>
          </p:cNvPr>
          <p:cNvSpPr/>
          <p:nvPr/>
        </p:nvSpPr>
        <p:spPr>
          <a:xfrm>
            <a:off x="4445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09DD6C-6E2E-90F3-4E9D-A669BBD933C6}"/>
              </a:ext>
            </a:extLst>
          </p:cNvPr>
          <p:cNvSpPr/>
          <p:nvPr/>
        </p:nvSpPr>
        <p:spPr>
          <a:xfrm>
            <a:off x="622300" y="24638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F23D8A-FDD9-E63A-FFB5-C449FF9912D1}"/>
              </a:ext>
            </a:extLst>
          </p:cNvPr>
          <p:cNvSpPr txBox="1"/>
          <p:nvPr/>
        </p:nvSpPr>
        <p:spPr>
          <a:xfrm>
            <a:off x="6223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E355E9-34A3-6DB0-A0EA-9F4C86D02AB7}"/>
              </a:ext>
            </a:extLst>
          </p:cNvPr>
          <p:cNvSpPr txBox="1"/>
          <p:nvPr/>
        </p:nvSpPr>
        <p:spPr>
          <a:xfrm>
            <a:off x="11049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Register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0CE453-26B5-EB62-8D98-B7686DBAC856}"/>
              </a:ext>
            </a:extLst>
          </p:cNvPr>
          <p:cNvSpPr txBox="1"/>
          <p:nvPr/>
        </p:nvSpPr>
        <p:spPr>
          <a:xfrm>
            <a:off x="622300" y="29464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Create the title, number, requester, and record status.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558248-F009-6FCD-12E2-236FF91C5F03}"/>
              </a:ext>
            </a:extLst>
          </p:cNvPr>
          <p:cNvSpPr/>
          <p:nvPr/>
        </p:nvSpPr>
        <p:spPr>
          <a:xfrm>
            <a:off x="27940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2C4473-F8A5-3043-D367-63C9DFFB45E0}"/>
              </a:ext>
            </a:extLst>
          </p:cNvPr>
          <p:cNvSpPr/>
          <p:nvPr/>
        </p:nvSpPr>
        <p:spPr>
          <a:xfrm>
            <a:off x="2971800" y="24638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2DB94-EF42-41E1-FA43-6C4990DD21C5}"/>
              </a:ext>
            </a:extLst>
          </p:cNvPr>
          <p:cNvSpPr txBox="1"/>
          <p:nvPr/>
        </p:nvSpPr>
        <p:spPr>
          <a:xfrm>
            <a:off x="29718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988762-A3D3-22F5-AFFA-DA2492877A84}"/>
              </a:ext>
            </a:extLst>
          </p:cNvPr>
          <p:cNvSpPr txBox="1"/>
          <p:nvPr/>
        </p:nvSpPr>
        <p:spPr>
          <a:xfrm>
            <a:off x="34544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Map storage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2C7889-2A94-91B6-F7A0-E86AC7D8C3AA}"/>
              </a:ext>
            </a:extLst>
          </p:cNvPr>
          <p:cNvSpPr txBox="1"/>
          <p:nvPr/>
        </p:nvSpPr>
        <p:spPr>
          <a:xfrm>
            <a:off x="2971800" y="2946400"/>
            <a:ext cx="1803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Select Area -&gt; Specific -&gt; Location, plus Asset and Sequence.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53A9AB-BDED-61B7-9E66-BC6159EDDC27}"/>
              </a:ext>
            </a:extLst>
          </p:cNvPr>
          <p:cNvSpPr/>
          <p:nvPr/>
        </p:nvSpPr>
        <p:spPr>
          <a:xfrm>
            <a:off x="51435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2AE23A5-110F-EB6F-6C37-DFB76CEB1061}"/>
              </a:ext>
            </a:extLst>
          </p:cNvPr>
          <p:cNvSpPr/>
          <p:nvPr/>
        </p:nvSpPr>
        <p:spPr>
          <a:xfrm>
            <a:off x="5321300" y="24638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16D07-8008-11B4-7404-12F7F1A801B0}"/>
              </a:ext>
            </a:extLst>
          </p:cNvPr>
          <p:cNvSpPr txBox="1"/>
          <p:nvPr/>
        </p:nvSpPr>
        <p:spPr>
          <a:xfrm>
            <a:off x="53213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CBC644-8C47-FAFF-F921-D911675A5E53}"/>
              </a:ext>
            </a:extLst>
          </p:cNvPr>
          <p:cNvSpPr txBox="1"/>
          <p:nvPr/>
        </p:nvSpPr>
        <p:spPr>
          <a:xfrm>
            <a:off x="58039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Attach evidence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4F3855-0FA8-B3D3-B82F-FFB7FD2F0773}"/>
              </a:ext>
            </a:extLst>
          </p:cNvPr>
          <p:cNvSpPr txBox="1"/>
          <p:nvPr/>
        </p:nvSpPr>
        <p:spPr>
          <a:xfrm>
            <a:off x="5321300" y="29464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Upload scans or supporting files without replacing the original.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3C25E0-3C41-D10A-C37F-F447206F6C4C}"/>
              </a:ext>
            </a:extLst>
          </p:cNvPr>
          <p:cNvSpPr/>
          <p:nvPr/>
        </p:nvSpPr>
        <p:spPr>
          <a:xfrm>
            <a:off x="74930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834290-945C-70C7-D481-4166E66B60C2}"/>
              </a:ext>
            </a:extLst>
          </p:cNvPr>
          <p:cNvSpPr/>
          <p:nvPr/>
        </p:nvSpPr>
        <p:spPr>
          <a:xfrm>
            <a:off x="7670800" y="24638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BF8873-3E4E-C923-A8BE-23731FC76E07}"/>
              </a:ext>
            </a:extLst>
          </p:cNvPr>
          <p:cNvSpPr txBox="1"/>
          <p:nvPr/>
        </p:nvSpPr>
        <p:spPr>
          <a:xfrm>
            <a:off x="76708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E17C37-AC2F-60D5-2766-CB42BD264F95}"/>
              </a:ext>
            </a:extLst>
          </p:cNvPr>
          <p:cNvSpPr txBox="1"/>
          <p:nvPr/>
        </p:nvSpPr>
        <p:spPr>
          <a:xfrm>
            <a:off x="81534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Assign access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3DC051-E3E9-023D-E94F-2FD9A222DC30}"/>
              </a:ext>
            </a:extLst>
          </p:cNvPr>
          <p:cNvSpPr txBox="1"/>
          <p:nvPr/>
        </p:nvSpPr>
        <p:spPr>
          <a:xfrm>
            <a:off x="7670800" y="2946400"/>
            <a:ext cx="1803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Choose the users who are allowed to discover and view the record.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B2430FF-D50C-7EB4-BFEF-2278437D08C2}"/>
              </a:ext>
            </a:extLst>
          </p:cNvPr>
          <p:cNvSpPr/>
          <p:nvPr/>
        </p:nvSpPr>
        <p:spPr>
          <a:xfrm>
            <a:off x="98425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C01598-8516-8304-ADAB-8E920CA22194}"/>
              </a:ext>
            </a:extLst>
          </p:cNvPr>
          <p:cNvSpPr/>
          <p:nvPr/>
        </p:nvSpPr>
        <p:spPr>
          <a:xfrm>
            <a:off x="10020300" y="24638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9C2AB4-5097-9045-A19E-53A349909362}"/>
              </a:ext>
            </a:extLst>
          </p:cNvPr>
          <p:cNvSpPr txBox="1"/>
          <p:nvPr/>
        </p:nvSpPr>
        <p:spPr>
          <a:xfrm>
            <a:off x="100203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D5CB93-FEEA-3876-D7B1-88F6665D98C0}"/>
              </a:ext>
            </a:extLst>
          </p:cNvPr>
          <p:cNvSpPr txBox="1"/>
          <p:nvPr/>
        </p:nvSpPr>
        <p:spPr>
          <a:xfrm>
            <a:off x="105029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Retrieve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C02CE0-C856-BAE8-BB2F-72C1FE17FB54}"/>
              </a:ext>
            </a:extLst>
          </p:cNvPr>
          <p:cNvSpPr txBox="1"/>
          <p:nvPr/>
        </p:nvSpPr>
        <p:spPr>
          <a:xfrm>
            <a:off x="10020300" y="2946400"/>
            <a:ext cx="1803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Follow the route and confirm asset/sequence before removing the copy.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61D82FE-3B3C-569C-450D-B5BCD0C9C570}"/>
              </a:ext>
            </a:extLst>
          </p:cNvPr>
          <p:cNvSpPr/>
          <p:nvPr/>
        </p:nvSpPr>
        <p:spPr>
          <a:xfrm>
            <a:off x="1397000" y="4318000"/>
            <a:ext cx="9398000" cy="10160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CAC45A-2EC4-70E0-1E2F-4E9007C93F6A}"/>
              </a:ext>
            </a:extLst>
          </p:cNvPr>
          <p:cNvSpPr txBox="1"/>
          <p:nvPr/>
        </p:nvSpPr>
        <p:spPr>
          <a:xfrm>
            <a:off x="1676400" y="4508500"/>
            <a:ext cx="215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A5A5FC"/>
                </a:solidFill>
                <a:latin typeface="Aptos" panose="020B0004020202020204" pitchFamily="34" charset="0"/>
              </a:rPr>
              <a:t>Example storage route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C0E896-2B0A-004B-E3BF-0BF256C4E4E5}"/>
              </a:ext>
            </a:extLst>
          </p:cNvPr>
          <p:cNvSpPr txBox="1"/>
          <p:nvPr/>
        </p:nvSpPr>
        <p:spPr>
          <a:xfrm>
            <a:off x="1676400" y="4826000"/>
            <a:ext cx="8826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ADMIN OFFICE  &gt;  BACK OFFICE STORAGE  &gt;  DU</a:t>
            </a:r>
            <a:endParaRPr lang="en-PH" sz="1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859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E8EF7-6318-96F7-CF9C-ED0595E8455F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SOFTCOPY TUTORIAL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94623-B016-6D03-A157-2DB72375D765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325FC-277B-AF4F-EF7D-0F1E4D448B58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SOFTCOPY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9067C-531B-3055-E155-9D4044765641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Upload once, revise with control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F77B07-C23F-24DA-BB52-23C94219A09C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The current file stays clear while every revision remains traceable.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F7DB4E-CF17-CBBB-5F77-DF9D135E3AA1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82FC27-6071-C8D4-FCBB-36D2BAEF24E4}"/>
              </a:ext>
            </a:extLst>
          </p:cNvPr>
          <p:cNvSpPr/>
          <p:nvPr/>
        </p:nvSpPr>
        <p:spPr>
          <a:xfrm>
            <a:off x="685800" y="2095500"/>
            <a:ext cx="2413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105F65-3BCF-785C-B675-6B6F5970BE97}"/>
              </a:ext>
            </a:extLst>
          </p:cNvPr>
          <p:cNvSpPr/>
          <p:nvPr/>
        </p:nvSpPr>
        <p:spPr>
          <a:xfrm>
            <a:off x="863600" y="2273300"/>
            <a:ext cx="355600" cy="355600"/>
          </a:xfrm>
          <a:prstGeom prst="ellipse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1FB24-5B98-21CE-97C6-64DD4B962CE9}"/>
              </a:ext>
            </a:extLst>
          </p:cNvPr>
          <p:cNvSpPr txBox="1"/>
          <p:nvPr/>
        </p:nvSpPr>
        <p:spPr>
          <a:xfrm>
            <a:off x="863600" y="2336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9ECCC-3FCD-8660-EBDF-1ECF41E7B0F8}"/>
              </a:ext>
            </a:extLst>
          </p:cNvPr>
          <p:cNvSpPr txBox="1"/>
          <p:nvPr/>
        </p:nvSpPr>
        <p:spPr>
          <a:xfrm>
            <a:off x="1346200" y="2286000"/>
            <a:ext cx="1600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Choose folder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D41E9-D460-6A5F-E681-39CDF700C1E2}"/>
              </a:ext>
            </a:extLst>
          </p:cNvPr>
          <p:cNvSpPr txBox="1"/>
          <p:nvPr/>
        </p:nvSpPr>
        <p:spPr>
          <a:xfrm>
            <a:off x="863600" y="2755900"/>
            <a:ext cx="2057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Select the correct softcopy category or create the approved folder structure.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342CB6-C377-9C83-A8FA-90285D3A015E}"/>
              </a:ext>
            </a:extLst>
          </p:cNvPr>
          <p:cNvSpPr/>
          <p:nvPr/>
        </p:nvSpPr>
        <p:spPr>
          <a:xfrm>
            <a:off x="3403600" y="2095500"/>
            <a:ext cx="2413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DBBBEC-3BA3-FE59-2DB2-CD6CF5703857}"/>
              </a:ext>
            </a:extLst>
          </p:cNvPr>
          <p:cNvSpPr/>
          <p:nvPr/>
        </p:nvSpPr>
        <p:spPr>
          <a:xfrm>
            <a:off x="3581400" y="2273300"/>
            <a:ext cx="355600" cy="355600"/>
          </a:xfrm>
          <a:prstGeom prst="ellipse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48F9F0-2FC3-82B1-7DB3-7B1F47A34C87}"/>
              </a:ext>
            </a:extLst>
          </p:cNvPr>
          <p:cNvSpPr txBox="1"/>
          <p:nvPr/>
        </p:nvSpPr>
        <p:spPr>
          <a:xfrm>
            <a:off x="3581400" y="2336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20102E-1269-73D4-02B1-45F69BFFF380}"/>
              </a:ext>
            </a:extLst>
          </p:cNvPr>
          <p:cNvSpPr txBox="1"/>
          <p:nvPr/>
        </p:nvSpPr>
        <p:spPr>
          <a:xfrm>
            <a:off x="4064000" y="2286000"/>
            <a:ext cx="1600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Create record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0FA45-8CF1-AD3B-3FB8-F1A15B2740EB}"/>
              </a:ext>
            </a:extLst>
          </p:cNvPr>
          <p:cNvSpPr txBox="1"/>
          <p:nvPr/>
        </p:nvSpPr>
        <p:spPr>
          <a:xfrm>
            <a:off x="3581400" y="2755900"/>
            <a:ext cx="2057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Enter document metadata and upload the first controlled file.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3477594-EFAB-F600-8668-85163042874C}"/>
              </a:ext>
            </a:extLst>
          </p:cNvPr>
          <p:cNvSpPr/>
          <p:nvPr/>
        </p:nvSpPr>
        <p:spPr>
          <a:xfrm>
            <a:off x="6121400" y="2095500"/>
            <a:ext cx="2413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4575B8A-F873-E12E-0032-EE290D34CB89}"/>
              </a:ext>
            </a:extLst>
          </p:cNvPr>
          <p:cNvSpPr/>
          <p:nvPr/>
        </p:nvSpPr>
        <p:spPr>
          <a:xfrm>
            <a:off x="6299200" y="2273300"/>
            <a:ext cx="355600" cy="355600"/>
          </a:xfrm>
          <a:prstGeom prst="ellipse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19747F-8A68-7731-9935-444E628C751D}"/>
              </a:ext>
            </a:extLst>
          </p:cNvPr>
          <p:cNvSpPr txBox="1"/>
          <p:nvPr/>
        </p:nvSpPr>
        <p:spPr>
          <a:xfrm>
            <a:off x="6299200" y="2336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580A80-2B84-D838-E6A0-54EDA1D78EB3}"/>
              </a:ext>
            </a:extLst>
          </p:cNvPr>
          <p:cNvSpPr txBox="1"/>
          <p:nvPr/>
        </p:nvSpPr>
        <p:spPr>
          <a:xfrm>
            <a:off x="6781800" y="2286000"/>
            <a:ext cx="1600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Assign users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74D7E6-BB23-569A-EC70-1A8B7C892BD7}"/>
              </a:ext>
            </a:extLst>
          </p:cNvPr>
          <p:cNvSpPr txBox="1"/>
          <p:nvPr/>
        </p:nvSpPr>
        <p:spPr>
          <a:xfrm>
            <a:off x="6299200" y="2755900"/>
            <a:ext cx="2057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Grant visibility only to the staff who require the document.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16AF90-002A-A3BF-FD17-41B25AAC18B4}"/>
              </a:ext>
            </a:extLst>
          </p:cNvPr>
          <p:cNvSpPr/>
          <p:nvPr/>
        </p:nvSpPr>
        <p:spPr>
          <a:xfrm>
            <a:off x="8839200" y="2095500"/>
            <a:ext cx="2413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8078BF5-1AE9-AFD0-9126-3C90A43E25F2}"/>
              </a:ext>
            </a:extLst>
          </p:cNvPr>
          <p:cNvSpPr/>
          <p:nvPr/>
        </p:nvSpPr>
        <p:spPr>
          <a:xfrm>
            <a:off x="9017000" y="2273300"/>
            <a:ext cx="355600" cy="355600"/>
          </a:xfrm>
          <a:prstGeom prst="ellipse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FD442F-33D6-F3D8-C870-41C9B419B7B1}"/>
              </a:ext>
            </a:extLst>
          </p:cNvPr>
          <p:cNvSpPr txBox="1"/>
          <p:nvPr/>
        </p:nvSpPr>
        <p:spPr>
          <a:xfrm>
            <a:off x="9017000" y="2336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3925E2-6619-2932-833C-40388FCAC5B6}"/>
              </a:ext>
            </a:extLst>
          </p:cNvPr>
          <p:cNvSpPr txBox="1"/>
          <p:nvPr/>
        </p:nvSpPr>
        <p:spPr>
          <a:xfrm>
            <a:off x="9499600" y="2286000"/>
            <a:ext cx="1600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Upload revision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1B6583-9206-703B-7FDA-A149AA1E544B}"/>
              </a:ext>
            </a:extLst>
          </p:cNvPr>
          <p:cNvSpPr txBox="1"/>
          <p:nvPr/>
        </p:nvSpPr>
        <p:spPr>
          <a:xfrm>
            <a:off x="9017000" y="2755900"/>
            <a:ext cx="2057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Provide a new file and explain the reason for revision.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E772CA-0B6C-2549-5569-A8A932CC99C9}"/>
              </a:ext>
            </a:extLst>
          </p:cNvPr>
          <p:cNvSpPr/>
          <p:nvPr/>
        </p:nvSpPr>
        <p:spPr>
          <a:xfrm>
            <a:off x="685800" y="4000500"/>
            <a:ext cx="51435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BBB2C3-4FED-E3E2-0928-676509D74975}"/>
              </a:ext>
            </a:extLst>
          </p:cNvPr>
          <p:cNvSpPr/>
          <p:nvPr/>
        </p:nvSpPr>
        <p:spPr>
          <a:xfrm>
            <a:off x="685800" y="4000500"/>
            <a:ext cx="63500" cy="14605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443D49-DC2F-D252-7B74-66ABE0737369}"/>
              </a:ext>
            </a:extLst>
          </p:cNvPr>
          <p:cNvSpPr txBox="1"/>
          <p:nvPr/>
        </p:nvSpPr>
        <p:spPr>
          <a:xfrm>
            <a:off x="914400" y="4191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NOW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B31B61-03D2-8143-4359-DF5BFF06D61A}"/>
              </a:ext>
            </a:extLst>
          </p:cNvPr>
          <p:cNvSpPr txBox="1"/>
          <p:nvPr/>
        </p:nvSpPr>
        <p:spPr>
          <a:xfrm>
            <a:off x="914400" y="4432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Current revision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8C695B-DEC3-EEA6-CB38-FC83C366DE21}"/>
              </a:ext>
            </a:extLst>
          </p:cNvPr>
          <p:cNvSpPr txBox="1"/>
          <p:nvPr/>
        </p:nvSpPr>
        <p:spPr>
          <a:xfrm>
            <a:off x="914400" y="4838700"/>
            <a:ext cx="4699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The document points to the latest approved working file for normal use.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42FA4F7-C8F2-D3D8-0057-1BAA70B60F5B}"/>
              </a:ext>
            </a:extLst>
          </p:cNvPr>
          <p:cNvSpPr/>
          <p:nvPr/>
        </p:nvSpPr>
        <p:spPr>
          <a:xfrm>
            <a:off x="6337300" y="4000500"/>
            <a:ext cx="51435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606E99-A52B-2FF3-E555-94B646C28848}"/>
              </a:ext>
            </a:extLst>
          </p:cNvPr>
          <p:cNvSpPr/>
          <p:nvPr/>
        </p:nvSpPr>
        <p:spPr>
          <a:xfrm>
            <a:off x="6337300" y="4000500"/>
            <a:ext cx="63500" cy="1460500"/>
          </a:xfrm>
          <a:prstGeom prst="rect">
            <a:avLst/>
          </a:prstGeom>
          <a:solidFill>
            <a:srgbClr val="478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3EE680-CA69-D681-A4BD-36CD0F54CDFC}"/>
              </a:ext>
            </a:extLst>
          </p:cNvPr>
          <p:cNvSpPr txBox="1"/>
          <p:nvPr/>
        </p:nvSpPr>
        <p:spPr>
          <a:xfrm>
            <a:off x="6565900" y="4191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478034"/>
                </a:solidFill>
                <a:latin typeface="Aptos" panose="020B0004020202020204" pitchFamily="34" charset="0"/>
              </a:rPr>
              <a:t>HISTORY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F5461C-F880-D9AD-B5D9-A333C82521C8}"/>
              </a:ext>
            </a:extLst>
          </p:cNvPr>
          <p:cNvSpPr txBox="1"/>
          <p:nvPr/>
        </p:nvSpPr>
        <p:spPr>
          <a:xfrm>
            <a:off x="6565900" y="4432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Revision history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7D8769-395D-0D3A-7D63-BB3D001E4186}"/>
              </a:ext>
            </a:extLst>
          </p:cNvPr>
          <p:cNvSpPr txBox="1"/>
          <p:nvPr/>
        </p:nvSpPr>
        <p:spPr>
          <a:xfrm>
            <a:off x="6565900" y="4838700"/>
            <a:ext cx="4699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Earlier versions retain file name, revision number, uploader, date, and reason.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A39D0F-6067-E057-A23C-5F1D8E8C88C6}"/>
              </a:ext>
            </a:extLst>
          </p:cNvPr>
          <p:cNvSpPr txBox="1"/>
          <p:nvPr/>
        </p:nvSpPr>
        <p:spPr>
          <a:xfrm>
            <a:off x="685800" y="5778500"/>
            <a:ext cx="1079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7F1919"/>
                </a:solidFill>
                <a:latin typeface="Aptos" panose="020B0004020202020204" pitchFamily="34" charset="0"/>
              </a:rPr>
              <a:t>Rule: never overwrite history manually. Use Upload Revision so the system records the change.</a:t>
            </a:r>
            <a:endParaRPr lang="en-PH" sz="1200" b="1">
              <a:solidFill>
                <a:srgbClr val="7F191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5467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16C1C6-29F1-BC77-44E1-83E79A377B30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8F428-F9D7-34A2-C1EE-5D0B76B47821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06C51-E450-4755-ED2F-CEBDA53C9F47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REQUEST AND APPROVAL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FF612-3C5F-C1CB-0D2E-2B460077A608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Decisions move through a visible queue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7FE50-0619-8A3C-AB1D-D8DA5D046D08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The requester and reviewer each have a dedicated workspace.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E179F-F87F-D6E5-D7A5-6E1D0E879450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93C15A-D283-1244-892F-531D763E49D9}"/>
              </a:ext>
            </a:extLst>
          </p:cNvPr>
          <p:cNvSpPr/>
          <p:nvPr/>
        </p:nvSpPr>
        <p:spPr>
          <a:xfrm>
            <a:off x="571500" y="2603500"/>
            <a:ext cx="2032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54344-15D1-4364-B591-5C09DEE0B300}"/>
              </a:ext>
            </a:extLst>
          </p:cNvPr>
          <p:cNvSpPr txBox="1"/>
          <p:nvPr/>
        </p:nvSpPr>
        <p:spPr>
          <a:xfrm>
            <a:off x="749300" y="2781300"/>
            <a:ext cx="25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991B1B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F23690-6788-6DBE-49AF-60A97B637CFF}"/>
              </a:ext>
            </a:extLst>
          </p:cNvPr>
          <p:cNvSpPr txBox="1"/>
          <p:nvPr/>
        </p:nvSpPr>
        <p:spPr>
          <a:xfrm>
            <a:off x="749300" y="3098800"/>
            <a:ext cx="167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100" b="1">
                <a:solidFill>
                  <a:srgbClr val="171717"/>
                </a:solidFill>
                <a:latin typeface="Aptos" panose="020B0004020202020204" pitchFamily="34" charset="0"/>
              </a:rPr>
              <a:t>User submits request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8FB67-B673-754F-4442-8F6B61EC0B02}"/>
              </a:ext>
            </a:extLst>
          </p:cNvPr>
          <p:cNvSpPr txBox="1"/>
          <p:nvPr/>
        </p:nvSpPr>
        <p:spPr>
          <a:xfrm>
            <a:off x="2641600" y="3009900"/>
            <a:ext cx="228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991B1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776C64-715C-750E-565D-A9CB350A62BD}"/>
              </a:ext>
            </a:extLst>
          </p:cNvPr>
          <p:cNvSpPr/>
          <p:nvPr/>
        </p:nvSpPr>
        <p:spPr>
          <a:xfrm>
            <a:off x="2857500" y="2603500"/>
            <a:ext cx="2032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DC970C-AAB6-A12F-626C-3B1942B707E6}"/>
              </a:ext>
            </a:extLst>
          </p:cNvPr>
          <p:cNvSpPr txBox="1"/>
          <p:nvPr/>
        </p:nvSpPr>
        <p:spPr>
          <a:xfrm>
            <a:off x="3035300" y="2781300"/>
            <a:ext cx="25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991B1B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8EDC73-7AF2-138A-DBB7-AA9C25C19191}"/>
              </a:ext>
            </a:extLst>
          </p:cNvPr>
          <p:cNvSpPr txBox="1"/>
          <p:nvPr/>
        </p:nvSpPr>
        <p:spPr>
          <a:xfrm>
            <a:off x="3035300" y="3098800"/>
            <a:ext cx="167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100" b="1">
                <a:solidFill>
                  <a:srgbClr val="171717"/>
                </a:solidFill>
                <a:latin typeface="Aptos" panose="020B0004020202020204" pitchFamily="34" charset="0"/>
              </a:rPr>
              <a:t>My Requests tracks status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2508FE-6D53-CF34-56AB-A84BEBBE1262}"/>
              </a:ext>
            </a:extLst>
          </p:cNvPr>
          <p:cNvSpPr txBox="1"/>
          <p:nvPr/>
        </p:nvSpPr>
        <p:spPr>
          <a:xfrm>
            <a:off x="4927600" y="3009900"/>
            <a:ext cx="228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991B1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4674DA-505C-CCA2-3C94-7F2820A8419C}"/>
              </a:ext>
            </a:extLst>
          </p:cNvPr>
          <p:cNvSpPr/>
          <p:nvPr/>
        </p:nvSpPr>
        <p:spPr>
          <a:xfrm>
            <a:off x="5143500" y="2603500"/>
            <a:ext cx="2032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2D89B8-2C99-E91C-0797-25D2384897F2}"/>
              </a:ext>
            </a:extLst>
          </p:cNvPr>
          <p:cNvSpPr txBox="1"/>
          <p:nvPr/>
        </p:nvSpPr>
        <p:spPr>
          <a:xfrm>
            <a:off x="5321300" y="2781300"/>
            <a:ext cx="25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991B1B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4181E3-BEE6-793C-33B2-8EB927177B1C}"/>
              </a:ext>
            </a:extLst>
          </p:cNvPr>
          <p:cNvSpPr txBox="1"/>
          <p:nvPr/>
        </p:nvSpPr>
        <p:spPr>
          <a:xfrm>
            <a:off x="5321300" y="3098800"/>
            <a:ext cx="16764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100" b="1">
                <a:solidFill>
                  <a:srgbClr val="171717"/>
                </a:solidFill>
                <a:latin typeface="Aptos" panose="020B0004020202020204" pitchFamily="34" charset="0"/>
              </a:rPr>
              <a:t>Reviewer opens Approval Review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F4550-529A-41A9-1C83-7AABAEFA5CE9}"/>
              </a:ext>
            </a:extLst>
          </p:cNvPr>
          <p:cNvSpPr txBox="1"/>
          <p:nvPr/>
        </p:nvSpPr>
        <p:spPr>
          <a:xfrm>
            <a:off x="7213600" y="3009900"/>
            <a:ext cx="228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991B1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988242-38ED-4A9A-16C2-70F70A765827}"/>
              </a:ext>
            </a:extLst>
          </p:cNvPr>
          <p:cNvSpPr/>
          <p:nvPr/>
        </p:nvSpPr>
        <p:spPr>
          <a:xfrm>
            <a:off x="7429500" y="2603500"/>
            <a:ext cx="2032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8598F-CB5C-A044-85AC-2FCB494BF362}"/>
              </a:ext>
            </a:extLst>
          </p:cNvPr>
          <p:cNvSpPr txBox="1"/>
          <p:nvPr/>
        </p:nvSpPr>
        <p:spPr>
          <a:xfrm>
            <a:off x="7607300" y="2781300"/>
            <a:ext cx="25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991B1B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2767ED-AC0C-F4FE-02D3-08C58EA15283}"/>
              </a:ext>
            </a:extLst>
          </p:cNvPr>
          <p:cNvSpPr txBox="1"/>
          <p:nvPr/>
        </p:nvSpPr>
        <p:spPr>
          <a:xfrm>
            <a:off x="7607300" y="3098800"/>
            <a:ext cx="16764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171717"/>
                </a:solidFill>
                <a:latin typeface="Aptos" panose="020B0004020202020204" pitchFamily="34" charset="0"/>
              </a:rPr>
              <a:t>Approve or reject with context</a:t>
            </a:r>
            <a:endParaRPr lang="en-PH" sz="11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410267-8732-996E-AB8F-3B5EDFEC3AE5}"/>
              </a:ext>
            </a:extLst>
          </p:cNvPr>
          <p:cNvSpPr txBox="1"/>
          <p:nvPr/>
        </p:nvSpPr>
        <p:spPr>
          <a:xfrm>
            <a:off x="9499600" y="3009900"/>
            <a:ext cx="228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991B1B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EDE0F2C-C962-163C-9FC0-0879FFF43D4E}"/>
              </a:ext>
            </a:extLst>
          </p:cNvPr>
          <p:cNvSpPr/>
          <p:nvPr/>
        </p:nvSpPr>
        <p:spPr>
          <a:xfrm>
            <a:off x="9715500" y="2603500"/>
            <a:ext cx="2032000" cy="1117600"/>
          </a:xfrm>
          <a:prstGeom prst="roundRect">
            <a:avLst/>
          </a:prstGeom>
          <a:solidFill>
            <a:srgbClr val="478034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8C0D76-5A79-ED6A-BB7E-8E327F745574}"/>
              </a:ext>
            </a:extLst>
          </p:cNvPr>
          <p:cNvSpPr txBox="1"/>
          <p:nvPr/>
        </p:nvSpPr>
        <p:spPr>
          <a:xfrm>
            <a:off x="9893300" y="2781300"/>
            <a:ext cx="25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991B1B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9ED40C-373A-3782-B95A-E200B5C4268C}"/>
              </a:ext>
            </a:extLst>
          </p:cNvPr>
          <p:cNvSpPr txBox="1"/>
          <p:nvPr/>
        </p:nvSpPr>
        <p:spPr>
          <a:xfrm>
            <a:off x="9893300" y="3098800"/>
            <a:ext cx="167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100" b="1">
                <a:solidFill>
                  <a:srgbClr val="FFFFFF"/>
                </a:solidFill>
                <a:latin typeface="Aptos" panose="020B0004020202020204" pitchFamily="34" charset="0"/>
              </a:rPr>
              <a:t>Document status updates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37538A4-EE63-7781-6D82-0493ADD49D86}"/>
              </a:ext>
            </a:extLst>
          </p:cNvPr>
          <p:cNvSpPr/>
          <p:nvPr/>
        </p:nvSpPr>
        <p:spPr>
          <a:xfrm>
            <a:off x="1714500" y="4318000"/>
            <a:ext cx="8763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FEDB1-59A1-7ACF-E58D-88A0C564E99F}"/>
              </a:ext>
            </a:extLst>
          </p:cNvPr>
          <p:cNvSpPr/>
          <p:nvPr/>
        </p:nvSpPr>
        <p:spPr>
          <a:xfrm>
            <a:off x="1714500" y="4318000"/>
            <a:ext cx="63500" cy="11176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DD25F0-5012-E938-043A-E8DC886FA4FF}"/>
              </a:ext>
            </a:extLst>
          </p:cNvPr>
          <p:cNvSpPr txBox="1"/>
          <p:nvPr/>
        </p:nvSpPr>
        <p:spPr>
          <a:xfrm>
            <a:off x="1943100" y="4508500"/>
            <a:ext cx="8318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KEEP WORK MOVING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DE7264-9E46-C730-234B-8881D02BF019}"/>
              </a:ext>
            </a:extLst>
          </p:cNvPr>
          <p:cNvSpPr txBox="1"/>
          <p:nvPr/>
        </p:nvSpPr>
        <p:spPr>
          <a:xfrm>
            <a:off x="1943100" y="4749800"/>
            <a:ext cx="8318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Notification loop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F221EA-0D5D-DE5D-FEE1-59722147A5B3}"/>
              </a:ext>
            </a:extLst>
          </p:cNvPr>
          <p:cNvSpPr txBox="1"/>
          <p:nvPr/>
        </p:nvSpPr>
        <p:spPr>
          <a:xfrm>
            <a:off x="1943100" y="5156200"/>
            <a:ext cx="8318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Badges and the notification center surface new requests, decisions, assignments, and document updates. Opening an item marks it read and navigates to the relevant workspace.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7562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DB4C23-11DE-EE7C-D21E-D60AF729D593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ACCESS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79F1C-83A7-EE3E-5A80-C0846452E865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4A1F5-CFFB-B25B-848F-E5B5FF42BBE3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DOCUMENT ASSIGNMENT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1A868-C953-AB5E-B357-8DD91BB089D7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Give access deliberately - not broadly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5DFF3-9918-10F5-32AF-03078BCEE5DC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Assignment metadata is visible but read-only to ordinary users.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FA68FB-D392-7DC2-9BCC-E7318E6EC6B8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7BFB12-2E3A-81A7-B26A-B1CF4422A8CC}"/>
              </a:ext>
            </a:extLst>
          </p:cNvPr>
          <p:cNvSpPr/>
          <p:nvPr/>
        </p:nvSpPr>
        <p:spPr>
          <a:xfrm>
            <a:off x="685800" y="2006600"/>
            <a:ext cx="3302000" cy="302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B0F336-8311-F8B0-75ED-0E6113C6C5C8}"/>
              </a:ext>
            </a:extLst>
          </p:cNvPr>
          <p:cNvSpPr/>
          <p:nvPr/>
        </p:nvSpPr>
        <p:spPr>
          <a:xfrm>
            <a:off x="685800" y="2006600"/>
            <a:ext cx="63500" cy="30226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58D7DA-EE59-D398-48EB-7C42F9440DB5}"/>
              </a:ext>
            </a:extLst>
          </p:cNvPr>
          <p:cNvSpPr txBox="1"/>
          <p:nvPr/>
        </p:nvSpPr>
        <p:spPr>
          <a:xfrm>
            <a:off x="914400" y="2197100"/>
            <a:ext cx="2857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ASSIGNS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5F89BB-B87E-1702-58EC-80761127D625}"/>
              </a:ext>
            </a:extLst>
          </p:cNvPr>
          <p:cNvSpPr txBox="1"/>
          <p:nvPr/>
        </p:nvSpPr>
        <p:spPr>
          <a:xfrm>
            <a:off x="914400" y="24384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Administrator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5F195B-DCCB-F98C-22FD-23582F043A39}"/>
              </a:ext>
            </a:extLst>
          </p:cNvPr>
          <p:cNvSpPr txBox="1"/>
          <p:nvPr/>
        </p:nvSpPr>
        <p:spPr>
          <a:xfrm>
            <a:off x="914400" y="2844800"/>
            <a:ext cx="28575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Selects one or more users, confirms the document, and saves the assignment. The system records who assigned access and when.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E0405D-0FF6-363B-0074-38BD4028DFA2}"/>
              </a:ext>
            </a:extLst>
          </p:cNvPr>
          <p:cNvSpPr/>
          <p:nvPr/>
        </p:nvSpPr>
        <p:spPr>
          <a:xfrm>
            <a:off x="4445000" y="2006600"/>
            <a:ext cx="3302000" cy="302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BAC8A-7F3B-E68A-B5D1-8EDAB29A84B2}"/>
              </a:ext>
            </a:extLst>
          </p:cNvPr>
          <p:cNvSpPr/>
          <p:nvPr/>
        </p:nvSpPr>
        <p:spPr>
          <a:xfrm>
            <a:off x="4445000" y="2006600"/>
            <a:ext cx="63500" cy="3022600"/>
          </a:xfrm>
          <a:prstGeom prst="rect">
            <a:avLst/>
          </a:prstGeom>
          <a:solidFill>
            <a:srgbClr val="478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F8CEB8-A97E-5D97-0AE6-1E61F47B5577}"/>
              </a:ext>
            </a:extLst>
          </p:cNvPr>
          <p:cNvSpPr txBox="1"/>
          <p:nvPr/>
        </p:nvSpPr>
        <p:spPr>
          <a:xfrm>
            <a:off x="4673600" y="2197100"/>
            <a:ext cx="2857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478034"/>
                </a:solidFill>
                <a:latin typeface="Aptos" panose="020B0004020202020204" pitchFamily="34" charset="0"/>
              </a:rPr>
              <a:t>USES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23977C-7EC5-BB37-DE61-FE7DC3B1E66A}"/>
              </a:ext>
            </a:extLst>
          </p:cNvPr>
          <p:cNvSpPr txBox="1"/>
          <p:nvPr/>
        </p:nvSpPr>
        <p:spPr>
          <a:xfrm>
            <a:off x="4673600" y="24384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Assigned user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8A1FE1-B6D7-4250-73AB-E78B472851F8}"/>
              </a:ext>
            </a:extLst>
          </p:cNvPr>
          <p:cNvSpPr txBox="1"/>
          <p:nvPr/>
        </p:nvSpPr>
        <p:spPr>
          <a:xfrm>
            <a:off x="4673600" y="2844800"/>
            <a:ext cx="28575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Can discover and open the document only when the role also permits the requested action.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97D9BE-D822-B576-BF63-6D951F73F157}"/>
              </a:ext>
            </a:extLst>
          </p:cNvPr>
          <p:cNvSpPr/>
          <p:nvPr/>
        </p:nvSpPr>
        <p:spPr>
          <a:xfrm>
            <a:off x="8204200" y="2006600"/>
            <a:ext cx="3302000" cy="302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26206C-BE95-BF16-D1AF-84E91158A1DD}"/>
              </a:ext>
            </a:extLst>
          </p:cNvPr>
          <p:cNvSpPr/>
          <p:nvPr/>
        </p:nvSpPr>
        <p:spPr>
          <a:xfrm>
            <a:off x="8204200" y="2006600"/>
            <a:ext cx="63500" cy="30226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235FAA-6AC1-964A-850E-912B0A543FBB}"/>
              </a:ext>
            </a:extLst>
          </p:cNvPr>
          <p:cNvSpPr txBox="1"/>
          <p:nvPr/>
        </p:nvSpPr>
        <p:spPr>
          <a:xfrm>
            <a:off x="8432800" y="2197100"/>
            <a:ext cx="2857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71717"/>
                </a:solidFill>
                <a:latin typeface="Aptos" panose="020B0004020202020204" pitchFamily="34" charset="0"/>
              </a:rPr>
              <a:t>RESTRICTED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C5A965-F41D-4883-2BD8-24F27565FEFC}"/>
              </a:ext>
            </a:extLst>
          </p:cNvPr>
          <p:cNvSpPr txBox="1"/>
          <p:nvPr/>
        </p:nvSpPr>
        <p:spPr>
          <a:xfrm>
            <a:off x="8432800" y="24384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Unassigned user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F14AFC-514F-20E2-49A0-9E3DE6925018}"/>
              </a:ext>
            </a:extLst>
          </p:cNvPr>
          <p:cNvSpPr txBox="1"/>
          <p:nvPr/>
        </p:nvSpPr>
        <p:spPr>
          <a:xfrm>
            <a:off x="8432800" y="2844800"/>
            <a:ext cx="28575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Does not receive the document in listings, search, dashboard data, detail views, or revision routes.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AE83925-F720-B6BD-1DF4-C737FCA8AC4D}"/>
              </a:ext>
            </a:extLst>
          </p:cNvPr>
          <p:cNvSpPr/>
          <p:nvPr/>
        </p:nvSpPr>
        <p:spPr>
          <a:xfrm>
            <a:off x="3048000" y="5524500"/>
            <a:ext cx="2032000" cy="3175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70BFCE-250A-9615-74F0-DDCE37901240}"/>
              </a:ext>
            </a:extLst>
          </p:cNvPr>
          <p:cNvSpPr txBox="1"/>
          <p:nvPr/>
        </p:nvSpPr>
        <p:spPr>
          <a:xfrm>
            <a:off x="3124200" y="5600700"/>
            <a:ext cx="1879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FFFFFF"/>
                </a:solidFill>
                <a:latin typeface="Aptos" panose="020B0004020202020204" pitchFamily="34" charset="0"/>
              </a:rPr>
              <a:t>CONTROLLED ACCESS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BACB12-71DA-6D95-BDC7-28C3EC14B193}"/>
              </a:ext>
            </a:extLst>
          </p:cNvPr>
          <p:cNvSpPr txBox="1"/>
          <p:nvPr/>
        </p:nvSpPr>
        <p:spPr>
          <a:xfrm>
            <a:off x="5308600" y="5600700"/>
            <a:ext cx="495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80726B"/>
                </a:solidFill>
                <a:latin typeface="Aptos" panose="020B0004020202020204" pitchFamily="34" charset="0"/>
              </a:rPr>
              <a:t>applies wherever the user searches, opens, or reviews a document</a:t>
            </a:r>
            <a:endParaRPr lang="en-PH" sz="1100" b="1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9842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005182-8FDA-B12F-2A97-153ADCAD42AA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USER TUTORIAL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9A198-670F-ED4E-1064-44886630BB82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E7279A-98D7-4B1B-90B1-BBB7DD7F2842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991B1B"/>
                </a:solidFill>
                <a:latin typeface="Aptos" panose="020B0004020202020204" pitchFamily="34" charset="0"/>
              </a:rPr>
              <a:t>FIND AND INSPECT A DOCUMENT</a:t>
            </a:r>
            <a:endParaRPr lang="en-PH" sz="1000" b="1">
              <a:solidFill>
                <a:srgbClr val="991B1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27B8F-0ED6-CCD0-9796-7E2393926A34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Search first, then narrow with Advanced filters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A04F50-188C-5B5D-E9F8-CA111FA07AB1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Hardcopy and Softcopy workspaces automatically show the filters that belong to that document type.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11C7AB-D416-A0F0-F67A-A0A04990349C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F394A1-0A4F-0DE6-97A2-A2D0908C8821}"/>
              </a:ext>
            </a:extLst>
          </p:cNvPr>
          <p:cNvSpPr/>
          <p:nvPr/>
        </p:nvSpPr>
        <p:spPr>
          <a:xfrm>
            <a:off x="685800" y="2095500"/>
            <a:ext cx="2794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AA10C2-6E43-F21C-4D8A-DB2213B4D5A8}"/>
              </a:ext>
            </a:extLst>
          </p:cNvPr>
          <p:cNvSpPr/>
          <p:nvPr/>
        </p:nvSpPr>
        <p:spPr>
          <a:xfrm>
            <a:off x="863600" y="22733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89CA6-F0A3-921F-50A8-6BE0036755D2}"/>
              </a:ext>
            </a:extLst>
          </p:cNvPr>
          <p:cNvSpPr txBox="1"/>
          <p:nvPr/>
        </p:nvSpPr>
        <p:spPr>
          <a:xfrm>
            <a:off x="863600" y="23368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44444B-E083-168B-DACC-622E9CDF8DB1}"/>
              </a:ext>
            </a:extLst>
          </p:cNvPr>
          <p:cNvSpPr txBox="1"/>
          <p:nvPr/>
        </p:nvSpPr>
        <p:spPr>
          <a:xfrm>
            <a:off x="1346200" y="22860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Choose workspace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741A0B-5AE3-A54F-0B52-89D3A06B5F50}"/>
              </a:ext>
            </a:extLst>
          </p:cNvPr>
          <p:cNvSpPr txBox="1"/>
          <p:nvPr/>
        </p:nvSpPr>
        <p:spPr>
          <a:xfrm>
            <a:off x="863600" y="2755900"/>
            <a:ext cx="243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>
                <a:solidFill>
                  <a:srgbClr val="80726B"/>
                </a:solidFill>
                <a:latin typeface="Aptos" panose="020B0004020202020204" pitchFamily="34" charset="0"/>
              </a:rPr>
              <a:t>Open Hardcopy Documents or Softcopy Documents.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03C19F-BDDD-6975-3848-3419FB1FFA02}"/>
              </a:ext>
            </a:extLst>
          </p:cNvPr>
          <p:cNvSpPr/>
          <p:nvPr/>
        </p:nvSpPr>
        <p:spPr>
          <a:xfrm>
            <a:off x="685800" y="3708400"/>
            <a:ext cx="2794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97EF89-693C-92A2-D0BF-8EC1A4955A65}"/>
              </a:ext>
            </a:extLst>
          </p:cNvPr>
          <p:cNvSpPr/>
          <p:nvPr/>
        </p:nvSpPr>
        <p:spPr>
          <a:xfrm>
            <a:off x="863600" y="38862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773CBA-D379-A748-1644-1C4EEC2790F9}"/>
              </a:ext>
            </a:extLst>
          </p:cNvPr>
          <p:cNvSpPr txBox="1"/>
          <p:nvPr/>
        </p:nvSpPr>
        <p:spPr>
          <a:xfrm>
            <a:off x="863600" y="39497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AE23DA-BA27-6172-8329-712591B9C5B3}"/>
              </a:ext>
            </a:extLst>
          </p:cNvPr>
          <p:cNvSpPr txBox="1"/>
          <p:nvPr/>
        </p:nvSpPr>
        <p:spPr>
          <a:xfrm>
            <a:off x="1346200" y="38989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Type keywords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25CCBD-BAAD-D33A-30D2-33E45FFE973B}"/>
              </a:ext>
            </a:extLst>
          </p:cNvPr>
          <p:cNvSpPr txBox="1"/>
          <p:nvPr/>
        </p:nvSpPr>
        <p:spPr>
          <a:xfrm>
            <a:off x="863600" y="4368800"/>
            <a:ext cx="243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Search by number, title, person, asset, area, or filename.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F82028-EF0E-AA26-F5A1-8C2FA71F23F1}"/>
              </a:ext>
            </a:extLst>
          </p:cNvPr>
          <p:cNvSpPr/>
          <p:nvPr/>
        </p:nvSpPr>
        <p:spPr>
          <a:xfrm>
            <a:off x="685800" y="5321300"/>
            <a:ext cx="2794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A580025-57FC-3E9A-B058-250E661AE643}"/>
              </a:ext>
            </a:extLst>
          </p:cNvPr>
          <p:cNvSpPr/>
          <p:nvPr/>
        </p:nvSpPr>
        <p:spPr>
          <a:xfrm>
            <a:off x="863600" y="54991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FB7B41-5BD8-3021-38CC-734573A98C0D}"/>
              </a:ext>
            </a:extLst>
          </p:cNvPr>
          <p:cNvSpPr txBox="1"/>
          <p:nvPr/>
        </p:nvSpPr>
        <p:spPr>
          <a:xfrm>
            <a:off x="863600" y="55626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D89ED0-3CD1-42D7-A38E-C1F424308334}"/>
              </a:ext>
            </a:extLst>
          </p:cNvPr>
          <p:cNvSpPr txBox="1"/>
          <p:nvPr/>
        </p:nvSpPr>
        <p:spPr>
          <a:xfrm>
            <a:off x="1346200" y="55118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Open Advanced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1D22AC-590B-5F53-44C8-A448FF393E9C}"/>
              </a:ext>
            </a:extLst>
          </p:cNvPr>
          <p:cNvSpPr txBox="1"/>
          <p:nvPr/>
        </p:nvSpPr>
        <p:spPr>
          <a:xfrm>
            <a:off x="863600" y="5981700"/>
            <a:ext cx="243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Use status, assignment, folder, or storage fields to narrow results.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183FBDE-9A04-A17E-0CA6-39F9D8F93321}"/>
              </a:ext>
            </a:extLst>
          </p:cNvPr>
          <p:cNvSpPr/>
          <p:nvPr/>
        </p:nvSpPr>
        <p:spPr>
          <a:xfrm>
            <a:off x="3937000" y="1905000"/>
            <a:ext cx="7543800" cy="40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4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8ADD67-1DCA-DA74-B1BC-D9745BE28068}"/>
              </a:ext>
            </a:extLst>
          </p:cNvPr>
          <p:cNvSpPr/>
          <p:nvPr/>
        </p:nvSpPr>
        <p:spPr>
          <a:xfrm>
            <a:off x="3937000" y="1905000"/>
            <a:ext cx="7543800" cy="381000"/>
          </a:xfrm>
          <a:prstGeom prst="rect">
            <a:avLst/>
          </a:prstGeom>
          <a:solidFill>
            <a:srgbClr val="1B18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87F96F-4862-69D4-C134-A7A22B296BC1}"/>
              </a:ext>
            </a:extLst>
          </p:cNvPr>
          <p:cNvSpPr/>
          <p:nvPr/>
        </p:nvSpPr>
        <p:spPr>
          <a:xfrm>
            <a:off x="4089400" y="2044700"/>
            <a:ext cx="88900" cy="88900"/>
          </a:xfrm>
          <a:prstGeom prst="ellipse">
            <a:avLst/>
          </a:prstGeom>
          <a:solidFill>
            <a:srgbClr val="7A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F08B631-CBB8-D352-516F-0B314271766C}"/>
              </a:ext>
            </a:extLst>
          </p:cNvPr>
          <p:cNvSpPr/>
          <p:nvPr/>
        </p:nvSpPr>
        <p:spPr>
          <a:xfrm>
            <a:off x="4254500" y="2044700"/>
            <a:ext cx="88900" cy="88900"/>
          </a:xfrm>
          <a:prstGeom prst="ellipse">
            <a:avLst/>
          </a:prstGeom>
          <a:solidFill>
            <a:srgbClr val="7A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7042196-A96C-749F-0774-AD06171645BD}"/>
              </a:ext>
            </a:extLst>
          </p:cNvPr>
          <p:cNvSpPr/>
          <p:nvPr/>
        </p:nvSpPr>
        <p:spPr>
          <a:xfrm>
            <a:off x="4419600" y="2044700"/>
            <a:ext cx="88900" cy="88900"/>
          </a:xfrm>
          <a:prstGeom prst="ellipse">
            <a:avLst/>
          </a:prstGeom>
          <a:solidFill>
            <a:srgbClr val="7A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9E7630-7F16-9B6B-D606-A83BDF1E87B9}"/>
              </a:ext>
            </a:extLst>
          </p:cNvPr>
          <p:cNvSpPr txBox="1"/>
          <p:nvPr/>
        </p:nvSpPr>
        <p:spPr>
          <a:xfrm>
            <a:off x="4673600" y="2019300"/>
            <a:ext cx="53848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700" b="1">
                <a:solidFill>
                  <a:srgbClr val="FFFFFF"/>
                </a:solidFill>
                <a:latin typeface="Aptos" panose="020B0004020202020204" pitchFamily="34" charset="0"/>
              </a:rPr>
              <a:t>PK DOCUMENT MANAGEMENT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CFF302C-F677-F3C3-2524-128B72784D69}"/>
              </a:ext>
            </a:extLst>
          </p:cNvPr>
          <p:cNvSpPr/>
          <p:nvPr/>
        </p:nvSpPr>
        <p:spPr>
          <a:xfrm>
            <a:off x="10388600" y="1955800"/>
            <a:ext cx="863600" cy="31750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E29024-2138-5350-95A7-E392D7FFBDAC}"/>
              </a:ext>
            </a:extLst>
          </p:cNvPr>
          <p:cNvSpPr txBox="1"/>
          <p:nvPr/>
        </p:nvSpPr>
        <p:spPr>
          <a:xfrm>
            <a:off x="10464800" y="2032000"/>
            <a:ext cx="711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FFFFFF"/>
                </a:solidFill>
                <a:latin typeface="Aptos" panose="020B0004020202020204" pitchFamily="34" charset="0"/>
              </a:rPr>
              <a:t>VIEWER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134E98-075F-50D2-C0C6-53AC2368EF7E}"/>
              </a:ext>
            </a:extLst>
          </p:cNvPr>
          <p:cNvSpPr/>
          <p:nvPr/>
        </p:nvSpPr>
        <p:spPr>
          <a:xfrm>
            <a:off x="3937000" y="2286000"/>
            <a:ext cx="1168400" cy="3683000"/>
          </a:xfrm>
          <a:prstGeom prst="rect">
            <a:avLst/>
          </a:prstGeom>
          <a:solidFill>
            <a:srgbClr val="F5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5E05B6-4895-A4FB-47B3-6D71C533367A}"/>
              </a:ext>
            </a:extLst>
          </p:cNvPr>
          <p:cNvSpPr txBox="1"/>
          <p:nvPr/>
        </p:nvSpPr>
        <p:spPr>
          <a:xfrm>
            <a:off x="4089400" y="2565400"/>
            <a:ext cx="889000" cy="861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Dashboard</a:t>
            </a:r>
          </a:p>
          <a:p>
            <a:endParaRPr lang="en-PH" sz="800" b="1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Documents</a:t>
            </a:r>
          </a:p>
          <a:p>
            <a:endParaRPr lang="en-PH" sz="800" b="1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Requests</a:t>
            </a:r>
          </a:p>
          <a:p>
            <a:endParaRPr lang="en-PH" sz="800" b="1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Notifications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72CE73-FB60-13E1-536C-90AACFFF1AF2}"/>
              </a:ext>
            </a:extLst>
          </p:cNvPr>
          <p:cNvSpPr txBox="1"/>
          <p:nvPr/>
        </p:nvSpPr>
        <p:spPr>
          <a:xfrm>
            <a:off x="5359400" y="2514600"/>
            <a:ext cx="58928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500" b="1">
                <a:solidFill>
                  <a:srgbClr val="171717"/>
                </a:solidFill>
                <a:latin typeface="Aptos" panose="020B0004020202020204" pitchFamily="34" charset="0"/>
              </a:rPr>
              <a:t>Hardcopy Document Module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1CC93BC-A0B6-5B17-53C3-860EB9FF4E33}"/>
              </a:ext>
            </a:extLst>
          </p:cNvPr>
          <p:cNvSpPr/>
          <p:nvPr/>
        </p:nvSpPr>
        <p:spPr>
          <a:xfrm>
            <a:off x="5359400" y="2971800"/>
            <a:ext cx="5892800" cy="4826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B6B453-153E-C341-72CB-71FB9D951EAD}"/>
              </a:ext>
            </a:extLst>
          </p:cNvPr>
          <p:cNvSpPr txBox="1"/>
          <p:nvPr/>
        </p:nvSpPr>
        <p:spPr>
          <a:xfrm>
            <a:off x="5511800" y="3124200"/>
            <a:ext cx="3937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80726B"/>
                </a:solidFill>
                <a:latin typeface="Aptos" panose="020B0004020202020204" pitchFamily="34" charset="0"/>
              </a:rPr>
              <a:t>Search number, title, creator, asset, area...</a:t>
            </a:r>
            <a:endParaRPr lang="en-PH" sz="9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A36CB5-753B-5636-DCC3-F730A91B3788}"/>
              </a:ext>
            </a:extLst>
          </p:cNvPr>
          <p:cNvSpPr/>
          <p:nvPr/>
        </p:nvSpPr>
        <p:spPr>
          <a:xfrm>
            <a:off x="9931400" y="3022600"/>
            <a:ext cx="1244600" cy="381000"/>
          </a:xfrm>
          <a:prstGeom prst="roundRect">
            <a:avLst/>
          </a:prstGeom>
          <a:solidFill>
            <a:srgbClr val="E2E2FE"/>
          </a:solidFill>
          <a:ln w="12700">
            <a:solidFill>
              <a:srgbClr val="CAC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AE0BBB-6DC7-BDE3-11F8-00B8C3AA0708}"/>
              </a:ext>
            </a:extLst>
          </p:cNvPr>
          <p:cNvSpPr txBox="1"/>
          <p:nvPr/>
        </p:nvSpPr>
        <p:spPr>
          <a:xfrm>
            <a:off x="10033000" y="3136900"/>
            <a:ext cx="1041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800" b="1">
                <a:solidFill>
                  <a:srgbClr val="7F1919"/>
                </a:solidFill>
                <a:latin typeface="Aptos" panose="020B0004020202020204" pitchFamily="34" charset="0"/>
              </a:rPr>
              <a:t>Advanced  2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B253A83-4968-9386-B334-B857687D1E64}"/>
              </a:ext>
            </a:extLst>
          </p:cNvPr>
          <p:cNvSpPr/>
          <p:nvPr/>
        </p:nvSpPr>
        <p:spPr>
          <a:xfrm>
            <a:off x="5359400" y="3581400"/>
            <a:ext cx="5892800" cy="180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15B27E-BD7F-9CB0-E413-214B7CC6ACA5}"/>
              </a:ext>
            </a:extLst>
          </p:cNvPr>
          <p:cNvSpPr txBox="1"/>
          <p:nvPr/>
        </p:nvSpPr>
        <p:spPr>
          <a:xfrm>
            <a:off x="5537200" y="3759200"/>
            <a:ext cx="2286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ADVANCED SEARCH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2FA12CA-0C6B-754B-442A-5CD6D46F6C18}"/>
              </a:ext>
            </a:extLst>
          </p:cNvPr>
          <p:cNvSpPr/>
          <p:nvPr/>
        </p:nvSpPr>
        <p:spPr>
          <a:xfrm>
            <a:off x="5537200" y="4089400"/>
            <a:ext cx="2235200" cy="381000"/>
          </a:xfrm>
          <a:prstGeom prst="roundRect">
            <a:avLst/>
          </a:prstGeom>
          <a:solidFill>
            <a:srgbClr val="F5F4F4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F992B9-2477-1614-6063-07C50FB6BB1A}"/>
              </a:ext>
            </a:extLst>
          </p:cNvPr>
          <p:cNvSpPr txBox="1"/>
          <p:nvPr/>
        </p:nvSpPr>
        <p:spPr>
          <a:xfrm>
            <a:off x="5651500" y="4203700"/>
            <a:ext cx="2006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171717"/>
                </a:solidFill>
                <a:latin typeface="Aptos" panose="020B0004020202020204" pitchFamily="34" charset="0"/>
              </a:rPr>
              <a:t>Status: Approved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6DDEF73-2341-09EF-FE15-8A027BC51D8B}"/>
              </a:ext>
            </a:extLst>
          </p:cNvPr>
          <p:cNvSpPr/>
          <p:nvPr/>
        </p:nvSpPr>
        <p:spPr>
          <a:xfrm>
            <a:off x="7950200" y="4089400"/>
            <a:ext cx="2235200" cy="381000"/>
          </a:xfrm>
          <a:prstGeom prst="roundRect">
            <a:avLst/>
          </a:prstGeom>
          <a:solidFill>
            <a:srgbClr val="F5F4F4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0A24C0-8F2B-D18F-6861-2287B2D7B9EA}"/>
              </a:ext>
            </a:extLst>
          </p:cNvPr>
          <p:cNvSpPr txBox="1"/>
          <p:nvPr/>
        </p:nvSpPr>
        <p:spPr>
          <a:xfrm>
            <a:off x="8064500" y="4203700"/>
            <a:ext cx="2006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171717"/>
                </a:solidFill>
                <a:latin typeface="Aptos" panose="020B0004020202020204" pitchFamily="34" charset="0"/>
              </a:rPr>
              <a:t>Assignment: Assigned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0895EA6-1E7F-44F9-1640-D65C2409B6CD}"/>
              </a:ext>
            </a:extLst>
          </p:cNvPr>
          <p:cNvSpPr/>
          <p:nvPr/>
        </p:nvSpPr>
        <p:spPr>
          <a:xfrm>
            <a:off x="5537200" y="4635500"/>
            <a:ext cx="2235200" cy="381000"/>
          </a:xfrm>
          <a:prstGeom prst="roundRect">
            <a:avLst/>
          </a:prstGeom>
          <a:solidFill>
            <a:srgbClr val="F5F4F4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3C83B8-8902-04C2-B54E-E421BD0C4EAD}"/>
              </a:ext>
            </a:extLst>
          </p:cNvPr>
          <p:cNvSpPr txBox="1"/>
          <p:nvPr/>
        </p:nvSpPr>
        <p:spPr>
          <a:xfrm>
            <a:off x="5651500" y="4749800"/>
            <a:ext cx="2006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171717"/>
                </a:solidFill>
                <a:latin typeface="Aptos" panose="020B0004020202020204" pitchFamily="34" charset="0"/>
              </a:rPr>
              <a:t>Area: Admin Office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F452716-8026-0AAB-1CAE-D4ADE03DA1A2}"/>
              </a:ext>
            </a:extLst>
          </p:cNvPr>
          <p:cNvSpPr/>
          <p:nvPr/>
        </p:nvSpPr>
        <p:spPr>
          <a:xfrm>
            <a:off x="7950200" y="4635500"/>
            <a:ext cx="2235200" cy="381000"/>
          </a:xfrm>
          <a:prstGeom prst="roundRect">
            <a:avLst/>
          </a:prstGeom>
          <a:solidFill>
            <a:srgbClr val="F5F4F4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85B449-5ACE-3C24-B570-3C32EB1C8A57}"/>
              </a:ext>
            </a:extLst>
          </p:cNvPr>
          <p:cNvSpPr txBox="1"/>
          <p:nvPr/>
        </p:nvSpPr>
        <p:spPr>
          <a:xfrm>
            <a:off x="8064500" y="4749800"/>
            <a:ext cx="2006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171717"/>
                </a:solidFill>
                <a:latin typeface="Aptos" panose="020B0004020202020204" pitchFamily="34" charset="0"/>
              </a:rPr>
              <a:t>Location: Back Office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7E98AD-FFD9-A103-A201-1D250106C34C}"/>
              </a:ext>
            </a:extLst>
          </p:cNvPr>
          <p:cNvSpPr txBox="1"/>
          <p:nvPr/>
        </p:nvSpPr>
        <p:spPr>
          <a:xfrm>
            <a:off x="5359400" y="5689600"/>
            <a:ext cx="5892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7F1919"/>
                </a:solidFill>
                <a:latin typeface="Aptos" panose="020B0004020202020204" pitchFamily="34" charset="0"/>
              </a:rPr>
              <a:t>Select a result to review details, access assignment, storage route, files, and activity.</a:t>
            </a:r>
            <a:endParaRPr lang="en-PH" sz="1000" b="1">
              <a:solidFill>
                <a:srgbClr val="7F191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7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3920D4-BE87-3BB2-3667-3FCB562A37C9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DOCUMENT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091D4-4612-F6FD-5B92-095E3A133629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A7592-229A-6E20-E47D-E6EE744F5421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SUPPORTING EVIDENCE AND REVISIONS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9CC0A-6137-E1EB-E7F7-88277E0E8511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Attach context without losing history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2B9FB-07DE-CBAA-3840-0C241E567412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Evidence explains the record; revisions control the main working file.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10591B-8C63-6424-C484-DD35556C8867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EC3EC9-D97E-136A-8DEA-ACF1265724DC}"/>
              </a:ext>
            </a:extLst>
          </p:cNvPr>
          <p:cNvSpPr/>
          <p:nvPr/>
        </p:nvSpPr>
        <p:spPr>
          <a:xfrm>
            <a:off x="685800" y="1968500"/>
            <a:ext cx="51435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B8A8AE-09F5-898F-BE8E-874969B88FBD}"/>
              </a:ext>
            </a:extLst>
          </p:cNvPr>
          <p:cNvSpPr/>
          <p:nvPr/>
        </p:nvSpPr>
        <p:spPr>
          <a:xfrm>
            <a:off x="685800" y="1968500"/>
            <a:ext cx="63500" cy="3111500"/>
          </a:xfrm>
          <a:prstGeom prst="rect">
            <a:avLst/>
          </a:prstGeom>
          <a:solidFill>
            <a:srgbClr val="478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E7C5C-0CE4-518D-F03C-9D28BBDAD4AC}"/>
              </a:ext>
            </a:extLst>
          </p:cNvPr>
          <p:cNvSpPr txBox="1"/>
          <p:nvPr/>
        </p:nvSpPr>
        <p:spPr>
          <a:xfrm>
            <a:off x="914400" y="2159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478034"/>
                </a:solidFill>
                <a:latin typeface="Aptos" panose="020B0004020202020204" pitchFamily="34" charset="0"/>
              </a:rPr>
              <a:t>ATTACHMENTS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2F1BB-E8BA-0E44-7425-5DF036197E13}"/>
              </a:ext>
            </a:extLst>
          </p:cNvPr>
          <p:cNvSpPr txBox="1"/>
          <p:nvPr/>
        </p:nvSpPr>
        <p:spPr>
          <a:xfrm>
            <a:off x="914400" y="2400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Supporting evidence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DF88D3-15BD-FEC9-8625-4AA6A176E265}"/>
              </a:ext>
            </a:extLst>
          </p:cNvPr>
          <p:cNvSpPr txBox="1"/>
          <p:nvPr/>
        </p:nvSpPr>
        <p:spPr>
          <a:xfrm>
            <a:off x="914400" y="2806700"/>
            <a:ext cx="4699000" cy="8463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Use for scanned pages, photos, receipts, references, or supporting Office/PDF files.</a:t>
            </a:r>
          </a:p>
          <a:p>
            <a:endParaRPr lang="en-US" sz="1100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Hardcopy records may have evidence even though the original remains physical.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CC2ED9-B0D1-CB90-79F2-B2D9DA010371}"/>
              </a:ext>
            </a:extLst>
          </p:cNvPr>
          <p:cNvSpPr/>
          <p:nvPr/>
        </p:nvSpPr>
        <p:spPr>
          <a:xfrm>
            <a:off x="6337300" y="1968500"/>
            <a:ext cx="51435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D49C8C-3856-14B4-3854-B8338004537A}"/>
              </a:ext>
            </a:extLst>
          </p:cNvPr>
          <p:cNvSpPr/>
          <p:nvPr/>
        </p:nvSpPr>
        <p:spPr>
          <a:xfrm>
            <a:off x="6337300" y="1968500"/>
            <a:ext cx="63500" cy="31115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66E9AF-BB5D-D828-2842-8B3C893783F7}"/>
              </a:ext>
            </a:extLst>
          </p:cNvPr>
          <p:cNvSpPr txBox="1"/>
          <p:nvPr/>
        </p:nvSpPr>
        <p:spPr>
          <a:xfrm>
            <a:off x="6565900" y="2159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VERSION HISTORY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C9314-210D-EBA2-AB45-EE224FC3F758}"/>
              </a:ext>
            </a:extLst>
          </p:cNvPr>
          <p:cNvSpPr txBox="1"/>
          <p:nvPr/>
        </p:nvSpPr>
        <p:spPr>
          <a:xfrm>
            <a:off x="6565900" y="2400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Controlled revisions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BA545-CBAC-F19E-31D6-BEEBB7669572}"/>
              </a:ext>
            </a:extLst>
          </p:cNvPr>
          <p:cNvSpPr txBox="1"/>
          <p:nvPr/>
        </p:nvSpPr>
        <p:spPr>
          <a:xfrm>
            <a:off x="6565900" y="2806700"/>
            <a:ext cx="4699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Use for successive versions of the principal softcopy document.</a:t>
            </a:r>
          </a:p>
          <a:p>
            <a:endParaRPr lang="en-US" sz="1100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Always provide a meaningful reason so reviewers understand what changed.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01F1A9-75FA-4419-9834-083ACC716D9B}"/>
              </a:ext>
            </a:extLst>
          </p:cNvPr>
          <p:cNvSpPr txBox="1"/>
          <p:nvPr/>
        </p:nvSpPr>
        <p:spPr>
          <a:xfrm>
            <a:off x="1066800" y="5562600"/>
            <a:ext cx="4762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478034"/>
                </a:solidFill>
                <a:latin typeface="Aptos" panose="020B0004020202020204" pitchFamily="34" charset="0"/>
              </a:rPr>
              <a:t>Evidence answers: what supports this record?</a:t>
            </a:r>
            <a:endParaRPr lang="en-PH" sz="1100" b="1">
              <a:solidFill>
                <a:srgbClr val="478034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E463BE-7A5E-84D7-30B3-FFA5B036FF24}"/>
              </a:ext>
            </a:extLst>
          </p:cNvPr>
          <p:cNvSpPr txBox="1"/>
          <p:nvPr/>
        </p:nvSpPr>
        <p:spPr>
          <a:xfrm>
            <a:off x="6337300" y="5562600"/>
            <a:ext cx="514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7F1919"/>
                </a:solidFill>
                <a:latin typeface="Aptos" panose="020B0004020202020204" pitchFamily="34" charset="0"/>
              </a:rPr>
              <a:t>Revisions answer: which version is current, and why?</a:t>
            </a:r>
            <a:endParaRPr lang="en-PH" sz="1100" b="1">
              <a:solidFill>
                <a:srgbClr val="7F191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150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5BC1B-3632-9F7F-8FCC-8C546E51BD1F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RECORD LIFECYCLE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E4EEF-0474-007A-BB19-D2F5A1A17669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7FA1A-093F-B7F6-D99A-390F9997B29A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DOCUMENT DISPOSAL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00C43-8A57-54D9-48C8-5A2F3A438FC8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800" b="1">
                <a:solidFill>
                  <a:srgbClr val="171717"/>
                </a:solidFill>
                <a:latin typeface="Aptos" panose="020B0004020202020204" pitchFamily="34" charset="0"/>
              </a:rPr>
              <a:t>A controlled decision - not a silent delete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76932-A3BA-E35D-E485-B65F7483C5F9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Disposal preserves accountability and supports restoration when policy permits.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2D6A5B-D087-760B-2D2B-25E6A73C2C66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23EEC8-8424-E19B-0049-694C9C348950}"/>
              </a:ext>
            </a:extLst>
          </p:cNvPr>
          <p:cNvSpPr/>
          <p:nvPr/>
        </p:nvSpPr>
        <p:spPr>
          <a:xfrm>
            <a:off x="4445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A44FE8-8891-DF0F-68C4-5D8A5A4EEB8D}"/>
              </a:ext>
            </a:extLst>
          </p:cNvPr>
          <p:cNvSpPr/>
          <p:nvPr/>
        </p:nvSpPr>
        <p:spPr>
          <a:xfrm>
            <a:off x="622300" y="24638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01A1FB-60BC-C1DD-0363-B06DD4C08967}"/>
              </a:ext>
            </a:extLst>
          </p:cNvPr>
          <p:cNvSpPr txBox="1"/>
          <p:nvPr/>
        </p:nvSpPr>
        <p:spPr>
          <a:xfrm>
            <a:off x="6223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74247-B1E4-15E9-C53C-79B5B0141605}"/>
              </a:ext>
            </a:extLst>
          </p:cNvPr>
          <p:cNvSpPr txBox="1"/>
          <p:nvPr/>
        </p:nvSpPr>
        <p:spPr>
          <a:xfrm>
            <a:off x="11049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Request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8BA8C9-895E-BBA6-F18E-755C103E7325}"/>
              </a:ext>
            </a:extLst>
          </p:cNvPr>
          <p:cNvSpPr txBox="1"/>
          <p:nvPr/>
        </p:nvSpPr>
        <p:spPr>
          <a:xfrm>
            <a:off x="622300" y="29464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Authorized user submits a disposal request and reason.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6502A6-DA34-64E8-ADB3-240832B02CC0}"/>
              </a:ext>
            </a:extLst>
          </p:cNvPr>
          <p:cNvSpPr/>
          <p:nvPr/>
        </p:nvSpPr>
        <p:spPr>
          <a:xfrm>
            <a:off x="27940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376C96-5850-7DB1-CDB9-A5781DBCD4D9}"/>
              </a:ext>
            </a:extLst>
          </p:cNvPr>
          <p:cNvSpPr/>
          <p:nvPr/>
        </p:nvSpPr>
        <p:spPr>
          <a:xfrm>
            <a:off x="2971800" y="24638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893A5A-BD43-85AA-30AC-3B8EBA9E47A6}"/>
              </a:ext>
            </a:extLst>
          </p:cNvPr>
          <p:cNvSpPr txBox="1"/>
          <p:nvPr/>
        </p:nvSpPr>
        <p:spPr>
          <a:xfrm>
            <a:off x="29718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DEA8E-B712-3067-31BA-71CADBD93047}"/>
              </a:ext>
            </a:extLst>
          </p:cNvPr>
          <p:cNvSpPr txBox="1"/>
          <p:nvPr/>
        </p:nvSpPr>
        <p:spPr>
          <a:xfrm>
            <a:off x="34544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A11A11-C9E4-11BB-59D6-36FE8384185F}"/>
              </a:ext>
            </a:extLst>
          </p:cNvPr>
          <p:cNvSpPr txBox="1"/>
          <p:nvPr/>
        </p:nvSpPr>
        <p:spPr>
          <a:xfrm>
            <a:off x="2971800" y="29464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Reviewer evaluates the request and record context.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7F50A0C-2559-094B-C340-64B59DFCAF64}"/>
              </a:ext>
            </a:extLst>
          </p:cNvPr>
          <p:cNvSpPr/>
          <p:nvPr/>
        </p:nvSpPr>
        <p:spPr>
          <a:xfrm>
            <a:off x="51435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3EBCE97-3998-D7B4-7EE4-CD8DC6FD6A32}"/>
              </a:ext>
            </a:extLst>
          </p:cNvPr>
          <p:cNvSpPr/>
          <p:nvPr/>
        </p:nvSpPr>
        <p:spPr>
          <a:xfrm>
            <a:off x="5321300" y="24638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55498A-B4CC-9761-AD8A-939738C3F63B}"/>
              </a:ext>
            </a:extLst>
          </p:cNvPr>
          <p:cNvSpPr txBox="1"/>
          <p:nvPr/>
        </p:nvSpPr>
        <p:spPr>
          <a:xfrm>
            <a:off x="53213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259624-44D8-D6D4-C136-FD233A7804B1}"/>
              </a:ext>
            </a:extLst>
          </p:cNvPr>
          <p:cNvSpPr txBox="1"/>
          <p:nvPr/>
        </p:nvSpPr>
        <p:spPr>
          <a:xfrm>
            <a:off x="58039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Decision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326E55-2FD9-6D00-6E1C-FC8716BD550F}"/>
              </a:ext>
            </a:extLst>
          </p:cNvPr>
          <p:cNvSpPr txBox="1"/>
          <p:nvPr/>
        </p:nvSpPr>
        <p:spPr>
          <a:xfrm>
            <a:off x="5321300" y="29464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Approve or reject; the decision is recorded.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A2588C-9071-71C1-9641-AF268B914C9A}"/>
              </a:ext>
            </a:extLst>
          </p:cNvPr>
          <p:cNvSpPr/>
          <p:nvPr/>
        </p:nvSpPr>
        <p:spPr>
          <a:xfrm>
            <a:off x="74930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786DB0-EE11-D075-260B-884CFFDEED6F}"/>
              </a:ext>
            </a:extLst>
          </p:cNvPr>
          <p:cNvSpPr/>
          <p:nvPr/>
        </p:nvSpPr>
        <p:spPr>
          <a:xfrm>
            <a:off x="7670800" y="2463800"/>
            <a:ext cx="355600" cy="355600"/>
          </a:xfrm>
          <a:prstGeom prst="ellipse">
            <a:avLst/>
          </a:prstGeom>
          <a:solidFill>
            <a:srgbClr val="7F19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ED9640-3434-91E0-4705-9AB42B24BD46}"/>
              </a:ext>
            </a:extLst>
          </p:cNvPr>
          <p:cNvSpPr txBox="1"/>
          <p:nvPr/>
        </p:nvSpPr>
        <p:spPr>
          <a:xfrm>
            <a:off x="76708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ACA444-7DDE-F9EE-9C58-86265CB5E7B5}"/>
              </a:ext>
            </a:extLst>
          </p:cNvPr>
          <p:cNvSpPr txBox="1"/>
          <p:nvPr/>
        </p:nvSpPr>
        <p:spPr>
          <a:xfrm>
            <a:off x="81534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Disposed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822E59-46C8-8045-C31E-B0DE8ACB0B9D}"/>
              </a:ext>
            </a:extLst>
          </p:cNvPr>
          <p:cNvSpPr txBox="1"/>
          <p:nvPr/>
        </p:nvSpPr>
        <p:spPr>
          <a:xfrm>
            <a:off x="7670800" y="2946400"/>
            <a:ext cx="1803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Record appears in Document Disposal with remarks and date.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0061084-8FB6-4C9D-0CDD-D0669FEEA035}"/>
              </a:ext>
            </a:extLst>
          </p:cNvPr>
          <p:cNvSpPr/>
          <p:nvPr/>
        </p:nvSpPr>
        <p:spPr>
          <a:xfrm>
            <a:off x="9842500" y="2286000"/>
            <a:ext cx="215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0646F2F-4D52-AB6A-2BFF-C3CFCA59124C}"/>
              </a:ext>
            </a:extLst>
          </p:cNvPr>
          <p:cNvSpPr/>
          <p:nvPr/>
        </p:nvSpPr>
        <p:spPr>
          <a:xfrm>
            <a:off x="10020300" y="2463800"/>
            <a:ext cx="355600" cy="355600"/>
          </a:xfrm>
          <a:prstGeom prst="ellipse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D72249-DC8F-A9B9-E00E-C2E7F26526AE}"/>
              </a:ext>
            </a:extLst>
          </p:cNvPr>
          <p:cNvSpPr txBox="1"/>
          <p:nvPr/>
        </p:nvSpPr>
        <p:spPr>
          <a:xfrm>
            <a:off x="10020300" y="25273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712752-42D1-B748-D1BD-31581CD1C1D3}"/>
              </a:ext>
            </a:extLst>
          </p:cNvPr>
          <p:cNvSpPr txBox="1"/>
          <p:nvPr/>
        </p:nvSpPr>
        <p:spPr>
          <a:xfrm>
            <a:off x="10502900" y="2476500"/>
            <a:ext cx="1346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171717"/>
                </a:solidFill>
                <a:latin typeface="Aptos" panose="020B0004020202020204" pitchFamily="34" charset="0"/>
              </a:rPr>
              <a:t>Restore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47876A-509A-ED10-8ABC-AFD21126EC8C}"/>
              </a:ext>
            </a:extLst>
          </p:cNvPr>
          <p:cNvSpPr txBox="1"/>
          <p:nvPr/>
        </p:nvSpPr>
        <p:spPr>
          <a:xfrm>
            <a:off x="10020300" y="2946400"/>
            <a:ext cx="18034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80726B"/>
                </a:solidFill>
                <a:latin typeface="Aptos" panose="020B0004020202020204" pitchFamily="34" charset="0"/>
              </a:rPr>
              <a:t>Authorized personnel can restore a disposed record when justified.</a:t>
            </a:r>
            <a:endParaRPr lang="en-PH" sz="10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1EF025-2DCC-A5BC-2BCE-D92F7C383804}"/>
              </a:ext>
            </a:extLst>
          </p:cNvPr>
          <p:cNvSpPr txBox="1"/>
          <p:nvPr/>
        </p:nvSpPr>
        <p:spPr>
          <a:xfrm>
            <a:off x="1016000" y="4572000"/>
            <a:ext cx="1016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71717"/>
                </a:solidFill>
                <a:latin typeface="Aptos" panose="020B0004020202020204" pitchFamily="34" charset="0"/>
              </a:rPr>
              <a:t>Deletion and disposal are different: disposal is a visible lifecycle state; deletion removes a record and requires separate authority.</a:t>
            </a:r>
            <a:endParaRPr lang="en-PH" sz="13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4734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A0201-E299-6E08-AE4A-894A204028D7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ACCOUNTABILITY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C769C-DA4E-A434-635D-037066D3CC15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EA720-70B3-CB5B-E52A-342066F14798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NOTIFICATIONS AND AUDIT LOGS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E5CCF-4E09-6691-5466-77AC8B2001A1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Awareness for users, evidence for administrators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A2818-3634-7CC1-B008-47021E863803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Two related tools answer different questions.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E9CAAC-7507-70F9-022D-55FCF8BDA880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16E3DC-4BCD-6354-9EB6-FEEDBB618C27}"/>
              </a:ext>
            </a:extLst>
          </p:cNvPr>
          <p:cNvSpPr/>
          <p:nvPr/>
        </p:nvSpPr>
        <p:spPr>
          <a:xfrm>
            <a:off x="685800" y="1968500"/>
            <a:ext cx="5143500" cy="302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17B289-A3A9-1C54-169F-6CD4D216DE7D}"/>
              </a:ext>
            </a:extLst>
          </p:cNvPr>
          <p:cNvSpPr/>
          <p:nvPr/>
        </p:nvSpPr>
        <p:spPr>
          <a:xfrm>
            <a:off x="685800" y="1968500"/>
            <a:ext cx="63500" cy="30226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93E168-F11C-3C62-4F31-6693EE203645}"/>
              </a:ext>
            </a:extLst>
          </p:cNvPr>
          <p:cNvSpPr txBox="1"/>
          <p:nvPr/>
        </p:nvSpPr>
        <p:spPr>
          <a:xfrm>
            <a:off x="914400" y="2159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ACTIONABLE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AC8AB-879A-AA9A-C9A2-61BE2F50E00D}"/>
              </a:ext>
            </a:extLst>
          </p:cNvPr>
          <p:cNvSpPr txBox="1"/>
          <p:nvPr/>
        </p:nvSpPr>
        <p:spPr>
          <a:xfrm>
            <a:off x="914400" y="2400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Notification center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7F03E-3C66-8A1A-6CA8-264FD3483CBE}"/>
              </a:ext>
            </a:extLst>
          </p:cNvPr>
          <p:cNvSpPr txBox="1"/>
          <p:nvPr/>
        </p:nvSpPr>
        <p:spPr>
          <a:xfrm>
            <a:off x="914400" y="2806700"/>
            <a:ext cx="4699000" cy="101566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Answers: What needs my attention?</a:t>
            </a:r>
          </a:p>
          <a:p>
            <a:endParaRPr lang="en-US" sz="1100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New assignments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Request decisions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Workflow updates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Unread counter and direct navigation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2D5FA4-BC78-A229-C6F3-4B86AA1690D4}"/>
              </a:ext>
            </a:extLst>
          </p:cNvPr>
          <p:cNvSpPr/>
          <p:nvPr/>
        </p:nvSpPr>
        <p:spPr>
          <a:xfrm>
            <a:off x="6337300" y="1968500"/>
            <a:ext cx="5143500" cy="302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64B28C-C8F2-26AA-84AF-BD4A257D7B39}"/>
              </a:ext>
            </a:extLst>
          </p:cNvPr>
          <p:cNvSpPr/>
          <p:nvPr/>
        </p:nvSpPr>
        <p:spPr>
          <a:xfrm>
            <a:off x="6337300" y="1968500"/>
            <a:ext cx="63500" cy="30226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EC77D-6424-15F1-A6DD-0277D972007C}"/>
              </a:ext>
            </a:extLst>
          </p:cNvPr>
          <p:cNvSpPr txBox="1"/>
          <p:nvPr/>
        </p:nvSpPr>
        <p:spPr>
          <a:xfrm>
            <a:off x="6565900" y="2159000"/>
            <a:ext cx="469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71717"/>
                </a:solidFill>
                <a:latin typeface="Aptos" panose="020B0004020202020204" pitchFamily="34" charset="0"/>
              </a:rPr>
              <a:t>TRACEABLE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DFDCAE-97D9-B997-62B2-49CEEEE9D3E7}"/>
              </a:ext>
            </a:extLst>
          </p:cNvPr>
          <p:cNvSpPr txBox="1"/>
          <p:nvPr/>
        </p:nvSpPr>
        <p:spPr>
          <a:xfrm>
            <a:off x="6565900" y="2400300"/>
            <a:ext cx="4699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Audit and Activity Logs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774F6B-706D-BDBC-E290-E04D843B08D0}"/>
              </a:ext>
            </a:extLst>
          </p:cNvPr>
          <p:cNvSpPr txBox="1"/>
          <p:nvPr/>
        </p:nvSpPr>
        <p:spPr>
          <a:xfrm>
            <a:off x="6565900" y="2806700"/>
            <a:ext cx="4699000" cy="101566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Answers: Who did what and when?</a:t>
            </a:r>
          </a:p>
          <a:p>
            <a:endParaRPr lang="en-US" sz="1100">
              <a:solidFill>
                <a:srgbClr val="80726B"/>
              </a:solidFill>
              <a:latin typeface="Aptos" panose="020B0004020202020204" pitchFamily="34" charset="0"/>
            </a:endParaRP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Authenticated user and role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Action and module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Affected record context</a:t>
            </a:r>
          </a:p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- Time and client computer IP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32F74E-F75A-3510-E3C1-166737833F41}"/>
              </a:ext>
            </a:extLst>
          </p:cNvPr>
          <p:cNvSpPr/>
          <p:nvPr/>
        </p:nvSpPr>
        <p:spPr>
          <a:xfrm>
            <a:off x="1905000" y="5461000"/>
            <a:ext cx="8382000" cy="609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AC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CE789-4FAA-FE38-C805-3381045BA4A1}"/>
              </a:ext>
            </a:extLst>
          </p:cNvPr>
          <p:cNvSpPr txBox="1"/>
          <p:nvPr/>
        </p:nvSpPr>
        <p:spPr>
          <a:xfrm>
            <a:off x="2209800" y="5651500"/>
            <a:ext cx="7772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7F1919"/>
                </a:solidFill>
                <a:latin typeface="Aptos" panose="020B0004020202020204" pitchFamily="34" charset="0"/>
              </a:rPr>
              <a:t>Sensitive passwords, tokens, authorization headers, and file contents are excluded from audit metadata.</a:t>
            </a:r>
            <a:endParaRPr lang="en-PH" sz="1100" b="1">
              <a:solidFill>
                <a:srgbClr val="7F191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00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02FA07-4118-053A-7CF2-A145A247B199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ADMINISTRATION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0B4DA-9468-909E-F3A0-9BCC7A991679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0E04F-FECA-0715-BBDB-0738D1828119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SYSTEM ADMINISTRATION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BF91F-8F65-F7E6-7B01-B4F10E32F36F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Configure the structure before users create records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33437-7B41-B481-4808-F3B20196848A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Good catalogs and permissions make daily document entry consistent.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D1C52E-F8BB-53A1-B6A6-7EEF69C9C757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F90FC7-3DBC-D65F-B948-78C76D647F14}"/>
              </a:ext>
            </a:extLst>
          </p:cNvPr>
          <p:cNvSpPr/>
          <p:nvPr/>
        </p:nvSpPr>
        <p:spPr>
          <a:xfrm>
            <a:off x="685800" y="1968500"/>
            <a:ext cx="50165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D69056-DF59-BDA6-AEB9-3AFA177EB2B9}"/>
              </a:ext>
            </a:extLst>
          </p:cNvPr>
          <p:cNvSpPr/>
          <p:nvPr/>
        </p:nvSpPr>
        <p:spPr>
          <a:xfrm>
            <a:off x="685800" y="1968500"/>
            <a:ext cx="63500" cy="15240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41B8C-29A4-2858-68A3-B88BF354BBB3}"/>
              </a:ext>
            </a:extLst>
          </p:cNvPr>
          <p:cNvSpPr txBox="1"/>
          <p:nvPr/>
        </p:nvSpPr>
        <p:spPr>
          <a:xfrm>
            <a:off x="914400" y="2159000"/>
            <a:ext cx="457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06644B-5FE1-37CA-8D81-DCC7644993AC}"/>
              </a:ext>
            </a:extLst>
          </p:cNvPr>
          <p:cNvSpPr txBox="1"/>
          <p:nvPr/>
        </p:nvSpPr>
        <p:spPr>
          <a:xfrm>
            <a:off x="914400" y="2400300"/>
            <a:ext cx="457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Storage &amp; 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2FEA6-A77D-2F3B-03BE-3297EFF46B51}"/>
              </a:ext>
            </a:extLst>
          </p:cNvPr>
          <p:cNvSpPr txBox="1"/>
          <p:nvPr/>
        </p:nvSpPr>
        <p:spPr>
          <a:xfrm>
            <a:off x="914400" y="2806700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Areas, specifics, locations, assets, sequences, and softcopy folders.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83BAB1-9D64-2CC4-2947-D22B6AF2402E}"/>
              </a:ext>
            </a:extLst>
          </p:cNvPr>
          <p:cNvSpPr/>
          <p:nvPr/>
        </p:nvSpPr>
        <p:spPr>
          <a:xfrm>
            <a:off x="6083300" y="1968500"/>
            <a:ext cx="50165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3CF51B-D8AC-D33C-827D-344EA427FA85}"/>
              </a:ext>
            </a:extLst>
          </p:cNvPr>
          <p:cNvSpPr/>
          <p:nvPr/>
        </p:nvSpPr>
        <p:spPr>
          <a:xfrm>
            <a:off x="6083300" y="1968500"/>
            <a:ext cx="63500" cy="15240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AD59F7-B9FA-453F-2523-9DF38BE4A4C6}"/>
              </a:ext>
            </a:extLst>
          </p:cNvPr>
          <p:cNvSpPr txBox="1"/>
          <p:nvPr/>
        </p:nvSpPr>
        <p:spPr>
          <a:xfrm>
            <a:off x="6311900" y="2159000"/>
            <a:ext cx="457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7171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417B76-008B-07A4-F58E-8024BACE0858}"/>
              </a:ext>
            </a:extLst>
          </p:cNvPr>
          <p:cNvSpPr txBox="1"/>
          <p:nvPr/>
        </p:nvSpPr>
        <p:spPr>
          <a:xfrm>
            <a:off x="6311900" y="2400300"/>
            <a:ext cx="457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User Accounts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3DBE52-28C9-2B9A-ED43-8079447815FD}"/>
              </a:ext>
            </a:extLst>
          </p:cNvPr>
          <p:cNvSpPr txBox="1"/>
          <p:nvPr/>
        </p:nvSpPr>
        <p:spPr>
          <a:xfrm>
            <a:off x="6311900" y="2806700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Profiles, roles, active status, registration review, and account governance.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BA366B-AD27-1996-8C72-8354B7112090}"/>
              </a:ext>
            </a:extLst>
          </p:cNvPr>
          <p:cNvSpPr/>
          <p:nvPr/>
        </p:nvSpPr>
        <p:spPr>
          <a:xfrm>
            <a:off x="685800" y="3810000"/>
            <a:ext cx="50165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0AA1E8-901C-9A12-D687-4183414B0E97}"/>
              </a:ext>
            </a:extLst>
          </p:cNvPr>
          <p:cNvSpPr/>
          <p:nvPr/>
        </p:nvSpPr>
        <p:spPr>
          <a:xfrm>
            <a:off x="685800" y="3810000"/>
            <a:ext cx="63500" cy="15240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C9E385-AF90-43F4-29BA-6801B627B0A2}"/>
              </a:ext>
            </a:extLst>
          </p:cNvPr>
          <p:cNvSpPr txBox="1"/>
          <p:nvPr/>
        </p:nvSpPr>
        <p:spPr>
          <a:xfrm>
            <a:off x="914400" y="4000500"/>
            <a:ext cx="457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43DD85-70AA-370F-D7CF-1F94470610CE}"/>
              </a:ext>
            </a:extLst>
          </p:cNvPr>
          <p:cNvSpPr txBox="1"/>
          <p:nvPr/>
        </p:nvSpPr>
        <p:spPr>
          <a:xfrm>
            <a:off x="914400" y="4241800"/>
            <a:ext cx="457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Roles &amp; Permissions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48A28-822E-8870-DF7E-97228E9945F4}"/>
              </a:ext>
            </a:extLst>
          </p:cNvPr>
          <p:cNvSpPr txBox="1"/>
          <p:nvPr/>
        </p:nvSpPr>
        <p:spPr>
          <a:xfrm>
            <a:off x="914400" y="4648200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Module and action rights based on job responsibilities.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8E82AC-1FBF-B1BC-9491-395B660C1931}"/>
              </a:ext>
            </a:extLst>
          </p:cNvPr>
          <p:cNvSpPr/>
          <p:nvPr/>
        </p:nvSpPr>
        <p:spPr>
          <a:xfrm>
            <a:off x="6083300" y="3810000"/>
            <a:ext cx="50165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FDBC6F-E579-DBCC-87E4-1CC5B135EDE4}"/>
              </a:ext>
            </a:extLst>
          </p:cNvPr>
          <p:cNvSpPr/>
          <p:nvPr/>
        </p:nvSpPr>
        <p:spPr>
          <a:xfrm>
            <a:off x="6083300" y="3810000"/>
            <a:ext cx="63500" cy="15240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DFE142-EF73-D7D3-604F-54A03FB29CD1}"/>
              </a:ext>
            </a:extLst>
          </p:cNvPr>
          <p:cNvSpPr txBox="1"/>
          <p:nvPr/>
        </p:nvSpPr>
        <p:spPr>
          <a:xfrm>
            <a:off x="6311900" y="4000500"/>
            <a:ext cx="457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71717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7B8415-5B64-0F4B-80A3-FB2C5E2B5099}"/>
              </a:ext>
            </a:extLst>
          </p:cNvPr>
          <p:cNvSpPr txBox="1"/>
          <p:nvPr/>
        </p:nvSpPr>
        <p:spPr>
          <a:xfrm>
            <a:off x="6311900" y="4241800"/>
            <a:ext cx="457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System Settings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3C65C9-FA95-7C77-3D36-4D5406DD12C1}"/>
              </a:ext>
            </a:extLst>
          </p:cNvPr>
          <p:cNvSpPr txBox="1"/>
          <p:nvPr/>
        </p:nvSpPr>
        <p:spPr>
          <a:xfrm>
            <a:off x="6311900" y="4648200"/>
            <a:ext cx="457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Branding, presentation, document behavior, and protected integration status.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0DDDF8-4359-58D1-6CA1-8EC3CFF5C95E}"/>
              </a:ext>
            </a:extLst>
          </p:cNvPr>
          <p:cNvSpPr txBox="1"/>
          <p:nvPr/>
        </p:nvSpPr>
        <p:spPr>
          <a:xfrm>
            <a:off x="1016000" y="5905500"/>
            <a:ext cx="1016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7F1919"/>
                </a:solidFill>
                <a:latin typeface="Aptos" panose="020B0004020202020204" pitchFamily="34" charset="0"/>
              </a:rPr>
              <a:t>Recommended order: define storage -&gt; define roles -&gt; create users -&gt; assign documents -&gt; begin operations.</a:t>
            </a:r>
            <a:endParaRPr lang="en-PH" sz="1200" b="1">
              <a:solidFill>
                <a:srgbClr val="7F191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3064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7AC37-5EA1-94A0-79EE-FAB355E5C081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RESILIENCE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DCBDD-8387-D315-53A8-37868CF1DEC5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7D753-BC2A-4FE8-0A32-76D1807A748B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BACKUP, RESTORE, AND RESET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017B2-1D14-19B6-9563-F173E02A2AFC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Protect information before it is needed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1EF48E-4D4B-353C-AF65-EE405F5F855E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Administrative recovery actions are guarded and separated from normal document work.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D6B151-35B9-3D87-9543-3B753DEC2E9E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DA87D0-0875-7265-533E-A32292C88A3E}"/>
              </a:ext>
            </a:extLst>
          </p:cNvPr>
          <p:cNvSpPr/>
          <p:nvPr/>
        </p:nvSpPr>
        <p:spPr>
          <a:xfrm>
            <a:off x="685800" y="1968500"/>
            <a:ext cx="32766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8A76D0-018A-591E-E7E3-8D200A8CECC1}"/>
              </a:ext>
            </a:extLst>
          </p:cNvPr>
          <p:cNvSpPr/>
          <p:nvPr/>
        </p:nvSpPr>
        <p:spPr>
          <a:xfrm>
            <a:off x="685800" y="1968500"/>
            <a:ext cx="63500" cy="3111500"/>
          </a:xfrm>
          <a:prstGeom prst="rect">
            <a:avLst/>
          </a:prstGeom>
          <a:solidFill>
            <a:srgbClr val="478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C60FE-D033-B2F8-067D-7D5D39D2261B}"/>
              </a:ext>
            </a:extLst>
          </p:cNvPr>
          <p:cNvSpPr txBox="1"/>
          <p:nvPr/>
        </p:nvSpPr>
        <p:spPr>
          <a:xfrm>
            <a:off x="914400" y="2159000"/>
            <a:ext cx="2832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478034"/>
                </a:solidFill>
                <a:latin typeface="Aptos" panose="020B0004020202020204" pitchFamily="34" charset="0"/>
              </a:rPr>
              <a:t>SAFE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EA47D-E510-C534-65A9-F7FF4EAD6ECD}"/>
              </a:ext>
            </a:extLst>
          </p:cNvPr>
          <p:cNvSpPr txBox="1"/>
          <p:nvPr/>
        </p:nvSpPr>
        <p:spPr>
          <a:xfrm>
            <a:off x="914400" y="2400300"/>
            <a:ext cx="28321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Backup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1BF6D8-C428-2A7C-B095-DA7F1A81C9E1}"/>
              </a:ext>
            </a:extLst>
          </p:cNvPr>
          <p:cNvSpPr txBox="1"/>
          <p:nvPr/>
        </p:nvSpPr>
        <p:spPr>
          <a:xfrm>
            <a:off x="914400" y="2806700"/>
            <a:ext cx="28321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Create a database snapshot and preserve uploaded document storage according to the configured process. Record the purpose and date.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A8D990-F7AC-074C-8F66-8E6280F41DC8}"/>
              </a:ext>
            </a:extLst>
          </p:cNvPr>
          <p:cNvSpPr/>
          <p:nvPr/>
        </p:nvSpPr>
        <p:spPr>
          <a:xfrm>
            <a:off x="4445000" y="1968500"/>
            <a:ext cx="32766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6C35FF-C374-2AA4-E216-43D8290FDD47}"/>
              </a:ext>
            </a:extLst>
          </p:cNvPr>
          <p:cNvSpPr/>
          <p:nvPr/>
        </p:nvSpPr>
        <p:spPr>
          <a:xfrm>
            <a:off x="4445000" y="1968500"/>
            <a:ext cx="63500" cy="3111500"/>
          </a:xfrm>
          <a:prstGeom prst="rect">
            <a:avLst/>
          </a:prstGeom>
          <a:solidFill>
            <a:srgbClr val="B477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3F2D01-46FD-7E1C-38D4-547AB56F31B6}"/>
              </a:ext>
            </a:extLst>
          </p:cNvPr>
          <p:cNvSpPr txBox="1"/>
          <p:nvPr/>
        </p:nvSpPr>
        <p:spPr>
          <a:xfrm>
            <a:off x="4673600" y="2159000"/>
            <a:ext cx="2832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B4771B"/>
                </a:solidFill>
                <a:latin typeface="Aptos" panose="020B0004020202020204" pitchFamily="34" charset="0"/>
              </a:rPr>
              <a:t>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74295-38DE-4B96-FDF3-75FAB8768EBB}"/>
              </a:ext>
            </a:extLst>
          </p:cNvPr>
          <p:cNvSpPr txBox="1"/>
          <p:nvPr/>
        </p:nvSpPr>
        <p:spPr>
          <a:xfrm>
            <a:off x="4673600" y="2400300"/>
            <a:ext cx="28321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Restore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202D9B-6AAC-5E56-03EE-70935EF94C3A}"/>
              </a:ext>
            </a:extLst>
          </p:cNvPr>
          <p:cNvSpPr txBox="1"/>
          <p:nvPr/>
        </p:nvSpPr>
        <p:spPr>
          <a:xfrm>
            <a:off x="4673600" y="2806700"/>
            <a:ext cx="28321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Choose the correct backup, understand the impact, confirm authorization, and verify the system after recovery.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388BF99-A602-BCD9-0255-6598264974DE}"/>
              </a:ext>
            </a:extLst>
          </p:cNvPr>
          <p:cNvSpPr/>
          <p:nvPr/>
        </p:nvSpPr>
        <p:spPr>
          <a:xfrm>
            <a:off x="8204200" y="1968500"/>
            <a:ext cx="32766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A56662-F766-C3D1-B4DD-362F19C827F5}"/>
              </a:ext>
            </a:extLst>
          </p:cNvPr>
          <p:cNvSpPr/>
          <p:nvPr/>
        </p:nvSpPr>
        <p:spPr>
          <a:xfrm>
            <a:off x="8204200" y="1968500"/>
            <a:ext cx="63500" cy="31115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BF916A-6032-BC84-8670-A6728A579A3D}"/>
              </a:ext>
            </a:extLst>
          </p:cNvPr>
          <p:cNvSpPr txBox="1"/>
          <p:nvPr/>
        </p:nvSpPr>
        <p:spPr>
          <a:xfrm>
            <a:off x="8432800" y="2159000"/>
            <a:ext cx="2832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HIGH IMPACT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5A593F-8547-239C-3BFC-93D6A322AB50}"/>
              </a:ext>
            </a:extLst>
          </p:cNvPr>
          <p:cNvSpPr txBox="1"/>
          <p:nvPr/>
        </p:nvSpPr>
        <p:spPr>
          <a:xfrm>
            <a:off x="8432800" y="2400300"/>
            <a:ext cx="28321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Start over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7160B9-8516-F107-0FFC-F9C3724E566B}"/>
              </a:ext>
            </a:extLst>
          </p:cNvPr>
          <p:cNvSpPr txBox="1"/>
          <p:nvPr/>
        </p:nvSpPr>
        <p:spPr>
          <a:xfrm>
            <a:off x="8432800" y="2806700"/>
            <a:ext cx="28321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Use only for an approved full reset. A safety copy is made first. This action is not part of normal daily use.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B7D65A-7210-1966-EDB6-C21C2EDDD7F4}"/>
              </a:ext>
            </a:extLst>
          </p:cNvPr>
          <p:cNvSpPr txBox="1"/>
          <p:nvPr/>
        </p:nvSpPr>
        <p:spPr>
          <a:xfrm>
            <a:off x="1079500" y="5588000"/>
            <a:ext cx="1003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71717"/>
                </a:solidFill>
                <a:latin typeface="Aptos" panose="020B0004020202020204" pitchFamily="34" charset="0"/>
              </a:rPr>
              <a:t>Operational rule: test the backup file, the application health, and a representative document - not only the backup count.</a:t>
            </a:r>
            <a:endParaRPr lang="en-PH" sz="12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9961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4D186E-901D-C396-6D36-303732CE9E43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PRACTICAL TUTORIAL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AB6130-6C61-ADF2-D947-2CB2C2207E41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05A55-CC4E-D3E4-6D8F-8273A1BD2328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A COMPLETE DAY-IN-THE-LIFE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06505-209A-32BE-13FC-71518C8B6F1F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From incoming document to accountable retrieval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28A87-667C-0059-FFDE-A1A42FDACD46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Use this slide as the guided demonstration during the presentation.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1EE71-3178-588A-A722-E37529013B5F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20FDED-572A-37FB-A052-9BA78756D39F}"/>
              </a:ext>
            </a:extLst>
          </p:cNvPr>
          <p:cNvSpPr/>
          <p:nvPr/>
        </p:nvSpPr>
        <p:spPr>
          <a:xfrm>
            <a:off x="685800" y="1905000"/>
            <a:ext cx="3302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03B57-565D-3EEB-2699-7A95861B7AFF}"/>
              </a:ext>
            </a:extLst>
          </p:cNvPr>
          <p:cNvSpPr txBox="1"/>
          <p:nvPr/>
        </p:nvSpPr>
        <p:spPr>
          <a:xfrm>
            <a:off x="889000" y="2120900"/>
            <a:ext cx="406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000" b="1">
                <a:solidFill>
                  <a:srgbClr val="991B1B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22BCE1-50CC-A7B9-B2B0-A25873450539}"/>
              </a:ext>
            </a:extLst>
          </p:cNvPr>
          <p:cNvSpPr txBox="1"/>
          <p:nvPr/>
        </p:nvSpPr>
        <p:spPr>
          <a:xfrm>
            <a:off x="1422400" y="21463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71717"/>
                </a:solidFill>
                <a:latin typeface="Aptos" panose="020B0004020202020204" pitchFamily="34" charset="0"/>
              </a:rPr>
              <a:t>Admin prepares the storage catalogs and user roles.</a:t>
            </a:r>
            <a:endParaRPr lang="en-PH" sz="11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5FA154-21C2-418F-3BC6-82F6F7DB82A4}"/>
              </a:ext>
            </a:extLst>
          </p:cNvPr>
          <p:cNvSpPr/>
          <p:nvPr/>
        </p:nvSpPr>
        <p:spPr>
          <a:xfrm>
            <a:off x="4318000" y="1905000"/>
            <a:ext cx="3302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D11413-2BD5-7E66-3B9E-B2CA3B95135E}"/>
              </a:ext>
            </a:extLst>
          </p:cNvPr>
          <p:cNvSpPr txBox="1"/>
          <p:nvPr/>
        </p:nvSpPr>
        <p:spPr>
          <a:xfrm>
            <a:off x="4521200" y="2120900"/>
            <a:ext cx="406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000" b="1">
                <a:solidFill>
                  <a:srgbClr val="991B1B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B27DB5-899D-5CF3-E1A1-0AAB3475F196}"/>
              </a:ext>
            </a:extLst>
          </p:cNvPr>
          <p:cNvSpPr txBox="1"/>
          <p:nvPr/>
        </p:nvSpPr>
        <p:spPr>
          <a:xfrm>
            <a:off x="5054600" y="21463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71717"/>
                </a:solidFill>
                <a:latin typeface="Aptos" panose="020B0004020202020204" pitchFamily="34" charset="0"/>
              </a:rPr>
              <a:t>Staff registers a trademark application as hardcopy.</a:t>
            </a:r>
            <a:endParaRPr lang="en-PH" sz="11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A3C591-0063-DA2A-801B-F53D90AFC250}"/>
              </a:ext>
            </a:extLst>
          </p:cNvPr>
          <p:cNvSpPr/>
          <p:nvPr/>
        </p:nvSpPr>
        <p:spPr>
          <a:xfrm>
            <a:off x="7950200" y="1905000"/>
            <a:ext cx="3302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8F2796-927B-2A34-DC6F-34956A10C96D}"/>
              </a:ext>
            </a:extLst>
          </p:cNvPr>
          <p:cNvSpPr txBox="1"/>
          <p:nvPr/>
        </p:nvSpPr>
        <p:spPr>
          <a:xfrm>
            <a:off x="8153400" y="2120900"/>
            <a:ext cx="406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000" b="1">
                <a:solidFill>
                  <a:srgbClr val="991B1B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C878F6-C0F4-F6C4-D2BC-5ABB197B0954}"/>
              </a:ext>
            </a:extLst>
          </p:cNvPr>
          <p:cNvSpPr txBox="1"/>
          <p:nvPr/>
        </p:nvSpPr>
        <p:spPr>
          <a:xfrm>
            <a:off x="8686800" y="21463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71717"/>
                </a:solidFill>
                <a:latin typeface="Aptos" panose="020B0004020202020204" pitchFamily="34" charset="0"/>
              </a:rPr>
              <a:t>Staff maps ADMIN OFFICE -&gt; BACK OFFICE STORAGE -&gt; DU.</a:t>
            </a:r>
            <a:endParaRPr lang="en-PH" sz="11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9878D9-7102-1C3F-7E6B-3AAA4D48FF2C}"/>
              </a:ext>
            </a:extLst>
          </p:cNvPr>
          <p:cNvSpPr/>
          <p:nvPr/>
        </p:nvSpPr>
        <p:spPr>
          <a:xfrm>
            <a:off x="685800" y="3746500"/>
            <a:ext cx="3302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49CC2-90CF-9B56-3C57-BE54B85213E9}"/>
              </a:ext>
            </a:extLst>
          </p:cNvPr>
          <p:cNvSpPr txBox="1"/>
          <p:nvPr/>
        </p:nvSpPr>
        <p:spPr>
          <a:xfrm>
            <a:off x="889000" y="3962400"/>
            <a:ext cx="406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000" b="1">
                <a:solidFill>
                  <a:srgbClr val="991B1B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86DD75-1333-F7E0-EFCD-EBD36CE34E86}"/>
              </a:ext>
            </a:extLst>
          </p:cNvPr>
          <p:cNvSpPr txBox="1"/>
          <p:nvPr/>
        </p:nvSpPr>
        <p:spPr>
          <a:xfrm>
            <a:off x="1422400" y="39878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71717"/>
                </a:solidFill>
                <a:latin typeface="Aptos" panose="020B0004020202020204" pitchFamily="34" charset="0"/>
              </a:rPr>
              <a:t>Admin assigns access to the responsible auditor.</a:t>
            </a:r>
            <a:endParaRPr lang="en-PH" sz="11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1EA4F9-621E-95E5-9E52-CB9046FF2725}"/>
              </a:ext>
            </a:extLst>
          </p:cNvPr>
          <p:cNvSpPr/>
          <p:nvPr/>
        </p:nvSpPr>
        <p:spPr>
          <a:xfrm>
            <a:off x="4318000" y="3746500"/>
            <a:ext cx="3302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DE512C-265D-A02B-1A35-62ABE38A6308}"/>
              </a:ext>
            </a:extLst>
          </p:cNvPr>
          <p:cNvSpPr txBox="1"/>
          <p:nvPr/>
        </p:nvSpPr>
        <p:spPr>
          <a:xfrm>
            <a:off x="4521200" y="3962400"/>
            <a:ext cx="406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000" b="1">
                <a:solidFill>
                  <a:srgbClr val="991B1B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F1D8A3-7F72-14CE-CDDA-7F93C386BE8E}"/>
              </a:ext>
            </a:extLst>
          </p:cNvPr>
          <p:cNvSpPr txBox="1"/>
          <p:nvPr/>
        </p:nvSpPr>
        <p:spPr>
          <a:xfrm>
            <a:off x="5054600" y="39878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71717"/>
                </a:solidFill>
                <a:latin typeface="Aptos" panose="020B0004020202020204" pitchFamily="34" charset="0"/>
              </a:rPr>
              <a:t>Auditor finds the record and reviews attached scans.</a:t>
            </a:r>
            <a:endParaRPr lang="en-PH" sz="11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C59AC25-F255-95C8-F720-8048B8FC3B7C}"/>
              </a:ext>
            </a:extLst>
          </p:cNvPr>
          <p:cNvSpPr/>
          <p:nvPr/>
        </p:nvSpPr>
        <p:spPr>
          <a:xfrm>
            <a:off x="7950200" y="3746500"/>
            <a:ext cx="3302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2E4023-7E9E-762B-3120-1A5817D688DE}"/>
              </a:ext>
            </a:extLst>
          </p:cNvPr>
          <p:cNvSpPr txBox="1"/>
          <p:nvPr/>
        </p:nvSpPr>
        <p:spPr>
          <a:xfrm>
            <a:off x="8153400" y="3962400"/>
            <a:ext cx="406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000" b="1">
                <a:solidFill>
                  <a:srgbClr val="991B1B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0374EE-CCB9-1660-11D1-AF7513B4F4A5}"/>
              </a:ext>
            </a:extLst>
          </p:cNvPr>
          <p:cNvSpPr txBox="1"/>
          <p:nvPr/>
        </p:nvSpPr>
        <p:spPr>
          <a:xfrm>
            <a:off x="8686800" y="39878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71717"/>
                </a:solidFill>
                <a:latin typeface="Aptos" panose="020B0004020202020204" pitchFamily="34" charset="0"/>
              </a:rPr>
              <a:t>A later disposal request moves through approval and audit.</a:t>
            </a:r>
            <a:endParaRPr lang="en-PH" sz="11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383F976-281D-874E-96BD-7725776FC838}"/>
              </a:ext>
            </a:extLst>
          </p:cNvPr>
          <p:cNvSpPr/>
          <p:nvPr/>
        </p:nvSpPr>
        <p:spPr>
          <a:xfrm>
            <a:off x="4953000" y="5740400"/>
            <a:ext cx="2286000" cy="317500"/>
          </a:xfrm>
          <a:prstGeom prst="round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90DD20-0FCD-B3BA-18F8-7584655445D8}"/>
              </a:ext>
            </a:extLst>
          </p:cNvPr>
          <p:cNvSpPr txBox="1"/>
          <p:nvPr/>
        </p:nvSpPr>
        <p:spPr>
          <a:xfrm>
            <a:off x="5029200" y="5816600"/>
            <a:ext cx="2133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900" b="1">
                <a:solidFill>
                  <a:srgbClr val="FFFFFF"/>
                </a:solidFill>
                <a:latin typeface="Aptos" panose="020B0004020202020204" pitchFamily="34" charset="0"/>
              </a:rPr>
              <a:t>DEMO COMPLETE</a:t>
            </a:r>
          </a:p>
        </p:txBody>
      </p:sp>
    </p:spTree>
    <p:extLst>
      <p:ext uri="{BB962C8B-B14F-4D97-AF65-F5344CB8AC3E}">
        <p14:creationId xmlns:p14="http://schemas.microsoft.com/office/powerpoint/2010/main" val="22202703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DEF633-F468-0A0E-A358-47392DD24C90}"/>
              </a:ext>
            </a:extLst>
          </p:cNvPr>
          <p:cNvSpPr txBox="1"/>
          <p:nvPr/>
        </p:nvSpPr>
        <p:spPr>
          <a:xfrm>
            <a:off x="685800" y="6477000"/>
            <a:ext cx="3810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80726B"/>
                </a:solidFill>
                <a:latin typeface="Aptos" panose="020B0004020202020204" pitchFamily="34" charset="0"/>
              </a:rPr>
              <a:t>CLOSING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B0063-4BE4-9934-5AE3-C58677073213}"/>
              </a:ext>
            </a:extLst>
          </p:cNvPr>
          <p:cNvSpPr txBox="1"/>
          <p:nvPr/>
        </p:nvSpPr>
        <p:spPr>
          <a:xfrm>
            <a:off x="11049000" y="6451600"/>
            <a:ext cx="4572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A7D97-23F8-F9E7-DD27-5EE989DD1851}"/>
              </a:ext>
            </a:extLst>
          </p:cNvPr>
          <p:cNvSpPr txBox="1"/>
          <p:nvPr/>
        </p:nvSpPr>
        <p:spPr>
          <a:xfrm>
            <a:off x="685800" y="406400"/>
            <a:ext cx="889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991B1B"/>
                </a:solidFill>
                <a:latin typeface="Aptos" panose="020B0004020202020204" pitchFamily="34" charset="0"/>
              </a:rPr>
              <a:t>PRESENTATION CLOSE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0957A-9558-2DCF-2E2C-53AB1A0B271B}"/>
              </a:ext>
            </a:extLst>
          </p:cNvPr>
          <p:cNvSpPr txBox="1"/>
          <p:nvPr/>
        </p:nvSpPr>
        <p:spPr>
          <a:xfrm>
            <a:off x="685800" y="6858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Controlled documents. Clear responsibility. Defensible history.</a:t>
            </a:r>
            <a:endParaRPr lang="en-PH" sz="2800" b="1">
              <a:solidFill>
                <a:srgbClr val="17171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A0F88-49DB-9F83-C5D9-D5C59208624D}"/>
              </a:ext>
            </a:extLst>
          </p:cNvPr>
          <p:cNvSpPr txBox="1"/>
          <p:nvPr/>
        </p:nvSpPr>
        <p:spPr>
          <a:xfrm>
            <a:off x="685800" y="1320800"/>
            <a:ext cx="1054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80726B"/>
                </a:solidFill>
                <a:latin typeface="Aptos" panose="020B0004020202020204" pitchFamily="34" charset="0"/>
              </a:rPr>
              <a:t>End with the system value, then proceed to the live demonstration or questions.</a:t>
            </a:r>
            <a:endParaRPr lang="en-PH" sz="13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928D5E-05F7-B76A-E964-B1925079A00C}"/>
              </a:ext>
            </a:extLst>
          </p:cNvPr>
          <p:cNvSpPr/>
          <p:nvPr/>
        </p:nvSpPr>
        <p:spPr>
          <a:xfrm>
            <a:off x="685800" y="304800"/>
            <a:ext cx="431800" cy="508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3C14C8-B95E-EEA9-C008-33C63863FED6}"/>
              </a:ext>
            </a:extLst>
          </p:cNvPr>
          <p:cNvSpPr/>
          <p:nvPr/>
        </p:nvSpPr>
        <p:spPr>
          <a:xfrm>
            <a:off x="685800" y="2032000"/>
            <a:ext cx="32766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6ABD1-97DD-ED4A-7D10-D847D380A9B7}"/>
              </a:ext>
            </a:extLst>
          </p:cNvPr>
          <p:cNvSpPr/>
          <p:nvPr/>
        </p:nvSpPr>
        <p:spPr>
          <a:xfrm>
            <a:off x="685800" y="2032000"/>
            <a:ext cx="63500" cy="2413000"/>
          </a:xfrm>
          <a:prstGeom prst="rect">
            <a:avLst/>
          </a:prstGeom>
          <a:solidFill>
            <a:srgbClr val="991B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63A07-51D3-7DAA-4F61-B45D1D1B1742}"/>
              </a:ext>
            </a:extLst>
          </p:cNvPr>
          <p:cNvSpPr txBox="1"/>
          <p:nvPr/>
        </p:nvSpPr>
        <p:spPr>
          <a:xfrm>
            <a:off x="914400" y="2222500"/>
            <a:ext cx="2832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991B1B"/>
                </a:solidFill>
                <a:latin typeface="Aptos" panose="020B0004020202020204" pitchFamily="34" charset="0"/>
              </a:rPr>
              <a:t>SPEED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7B6F5-C490-6ED8-A563-084977E43293}"/>
              </a:ext>
            </a:extLst>
          </p:cNvPr>
          <p:cNvSpPr txBox="1"/>
          <p:nvPr/>
        </p:nvSpPr>
        <p:spPr>
          <a:xfrm>
            <a:off x="914400" y="2463800"/>
            <a:ext cx="28321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Find 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2D2BEE-B01D-1CFC-1BDD-52A79047D5E0}"/>
              </a:ext>
            </a:extLst>
          </p:cNvPr>
          <p:cNvSpPr txBox="1"/>
          <p:nvPr/>
        </p:nvSpPr>
        <p:spPr>
          <a:xfrm>
            <a:off x="914400" y="2870200"/>
            <a:ext cx="283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Searchable digital records and precise physical storage routes reduce retrieval time.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180BEF-F393-6AB4-4898-25066E6CBDD3}"/>
              </a:ext>
            </a:extLst>
          </p:cNvPr>
          <p:cNvSpPr/>
          <p:nvPr/>
        </p:nvSpPr>
        <p:spPr>
          <a:xfrm>
            <a:off x="4445000" y="2032000"/>
            <a:ext cx="32766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D4FC65-83F3-DA7A-0631-4F9DEC22BFAC}"/>
              </a:ext>
            </a:extLst>
          </p:cNvPr>
          <p:cNvSpPr/>
          <p:nvPr/>
        </p:nvSpPr>
        <p:spPr>
          <a:xfrm>
            <a:off x="4445000" y="2032000"/>
            <a:ext cx="63500" cy="24130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D7477F-127E-55FD-3613-58EC7537492C}"/>
              </a:ext>
            </a:extLst>
          </p:cNvPr>
          <p:cNvSpPr txBox="1"/>
          <p:nvPr/>
        </p:nvSpPr>
        <p:spPr>
          <a:xfrm>
            <a:off x="4673600" y="2222500"/>
            <a:ext cx="2832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71717"/>
                </a:solidFill>
                <a:latin typeface="Aptos" panose="020B0004020202020204" pitchFamily="34" charset="0"/>
              </a:rPr>
              <a:t>SECURITY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63EFF2-0BBE-24C5-FFB0-C947D3E5751A}"/>
              </a:ext>
            </a:extLst>
          </p:cNvPr>
          <p:cNvSpPr txBox="1"/>
          <p:nvPr/>
        </p:nvSpPr>
        <p:spPr>
          <a:xfrm>
            <a:off x="4673600" y="2463800"/>
            <a:ext cx="28321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Protect 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17799-F490-210D-FBD0-561D9FF1D24E}"/>
              </a:ext>
            </a:extLst>
          </p:cNvPr>
          <p:cNvSpPr txBox="1"/>
          <p:nvPr/>
        </p:nvSpPr>
        <p:spPr>
          <a:xfrm>
            <a:off x="4673600" y="2870200"/>
            <a:ext cx="28321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Roles, permissions, assignments, blank credentials, and controlled sessions limit exposure.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A3F3B77-2406-1F35-9AE5-C71EE1BFAA56}"/>
              </a:ext>
            </a:extLst>
          </p:cNvPr>
          <p:cNvSpPr/>
          <p:nvPr/>
        </p:nvSpPr>
        <p:spPr>
          <a:xfrm>
            <a:off x="8204200" y="2032000"/>
            <a:ext cx="32766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7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CD9D0D-6FDD-E9B6-9066-4C1131071259}"/>
              </a:ext>
            </a:extLst>
          </p:cNvPr>
          <p:cNvSpPr/>
          <p:nvPr/>
        </p:nvSpPr>
        <p:spPr>
          <a:xfrm>
            <a:off x="8204200" y="2032000"/>
            <a:ext cx="63500" cy="2413000"/>
          </a:xfrm>
          <a:prstGeom prst="rect">
            <a:avLst/>
          </a:prstGeom>
          <a:solidFill>
            <a:srgbClr val="478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7D1905-261E-78AA-D02F-A302240D3E00}"/>
              </a:ext>
            </a:extLst>
          </p:cNvPr>
          <p:cNvSpPr txBox="1"/>
          <p:nvPr/>
        </p:nvSpPr>
        <p:spPr>
          <a:xfrm>
            <a:off x="8432800" y="2222500"/>
            <a:ext cx="2832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478034"/>
                </a:solidFill>
                <a:latin typeface="Aptos" panose="020B0004020202020204" pitchFamily="34" charset="0"/>
              </a:rPr>
              <a:t>TRUST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BBA8B7-D5BA-4DCF-AB10-4CADE3C3DDBE}"/>
              </a:ext>
            </a:extLst>
          </p:cNvPr>
          <p:cNvSpPr txBox="1"/>
          <p:nvPr/>
        </p:nvSpPr>
        <p:spPr>
          <a:xfrm>
            <a:off x="8432800" y="2463800"/>
            <a:ext cx="28321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171717"/>
                </a:solidFill>
                <a:latin typeface="Aptos" panose="020B0004020202020204" pitchFamily="34" charset="0"/>
              </a:rPr>
              <a:t>Prove 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038CC-14C9-66BB-DDE6-79FFA322F000}"/>
              </a:ext>
            </a:extLst>
          </p:cNvPr>
          <p:cNvSpPr txBox="1"/>
          <p:nvPr/>
        </p:nvSpPr>
        <p:spPr>
          <a:xfrm>
            <a:off x="8432800" y="2870200"/>
            <a:ext cx="28321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Requests, approvals, revisions, disposal history, notifications, and audit logs provide accountability.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8251C6-FC60-A312-9B31-7C1829F72EC8}"/>
              </a:ext>
            </a:extLst>
          </p:cNvPr>
          <p:cNvSpPr txBox="1"/>
          <p:nvPr/>
        </p:nvSpPr>
        <p:spPr>
          <a:xfrm>
            <a:off x="685800" y="5181600"/>
            <a:ext cx="1079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PH" sz="2400" b="1">
                <a:solidFill>
                  <a:srgbClr val="7F1919"/>
                </a:solidFill>
                <a:latin typeface="Aptos" panose="020B0004020202020204" pitchFamily="34" charset="0"/>
              </a:rPr>
              <a:t>Questions &amp; live demonstration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5EEC18-831A-E795-8FDB-1D24C8A3121E}"/>
              </a:ext>
            </a:extLst>
          </p:cNvPr>
          <p:cNvSpPr txBox="1"/>
          <p:nvPr/>
        </p:nvSpPr>
        <p:spPr>
          <a:xfrm>
            <a:off x="1778000" y="5880100"/>
            <a:ext cx="863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rgbClr val="80726B"/>
                </a:solidFill>
                <a:latin typeface="Aptos" panose="020B0004020202020204" pitchFamily="34" charset="0"/>
              </a:rPr>
              <a:t>Suggested demo: login -&gt; dashboard -&gt; create/find document -&gt; assign user -&gt; open details -&gt; audit activity.</a:t>
            </a:r>
            <a:endParaRPr lang="en-PH" sz="11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0148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2075</Words>
  <Application>Microsoft Office PowerPoint</Application>
  <PresentationFormat>Custom</PresentationFormat>
  <Paragraphs>431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Paul Curib</dc:creator>
  <cp:lastModifiedBy>John Paul Curib</cp:lastModifiedBy>
  <cp:revision>1</cp:revision>
  <dcterms:created xsi:type="dcterms:W3CDTF">2026-08-14T02:12:35Z</dcterms:created>
  <dcterms:modified xsi:type="dcterms:W3CDTF">2026-08-14T02:12:35Z</dcterms:modified>
</cp:coreProperties>
</file>